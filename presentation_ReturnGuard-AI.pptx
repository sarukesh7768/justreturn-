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12522200"/>
  <p:notesSz cx="11430000" cy="12522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22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7353" y="2501900"/>
            <a:ext cx="347281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1430000" cy="12230100"/>
          </a:xfrm>
          <a:custGeom>
            <a:avLst/>
            <a:gdLst/>
            <a:ahLst/>
            <a:cxnLst/>
            <a:rect l="l" t="t" r="r" b="b"/>
            <a:pathLst>
              <a:path w="11430000" h="12230100">
                <a:moveTo>
                  <a:pt x="11430000" y="0"/>
                </a:moveTo>
                <a:lnTo>
                  <a:pt x="0" y="0"/>
                </a:lnTo>
                <a:lnTo>
                  <a:pt x="0" y="12230100"/>
                </a:lnTo>
                <a:lnTo>
                  <a:pt x="11430000" y="122301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50" cy="1222857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7353" y="492125"/>
            <a:ext cx="735647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ReturnGuard</a:t>
            </a:r>
            <a:r>
              <a:rPr spc="-65" dirty="0"/>
              <a:t> </a:t>
            </a:r>
            <a:r>
              <a:rPr spc="-45" dirty="0"/>
              <a:t>AI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353" y="3273025"/>
            <a:ext cx="5302885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0"/>
              </a:spcBef>
            </a:pP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Automated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E-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Commerce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AI-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Powered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Fraud Detection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05700"/>
          </a:xfrm>
          <a:custGeom>
            <a:avLst/>
            <a:gdLst/>
            <a:ahLst/>
            <a:cxnLst/>
            <a:rect l="l" t="t" r="r" b="b"/>
            <a:pathLst>
              <a:path w="11430000" h="7505700">
                <a:moveTo>
                  <a:pt x="11430000" y="0"/>
                </a:moveTo>
                <a:lnTo>
                  <a:pt x="0" y="0"/>
                </a:lnTo>
                <a:lnTo>
                  <a:pt x="0" y="7505700"/>
                </a:lnTo>
                <a:lnTo>
                  <a:pt x="11430000" y="7505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7353" y="501650"/>
            <a:ext cx="962025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90" dirty="0"/>
              <a:t>The</a:t>
            </a:r>
            <a:r>
              <a:rPr spc="-80" dirty="0"/>
              <a:t> </a:t>
            </a:r>
            <a:r>
              <a:rPr spc="45" dirty="0"/>
              <a:t>Challenge:</a:t>
            </a:r>
            <a:r>
              <a:rPr spc="-75" dirty="0"/>
              <a:t> </a:t>
            </a:r>
            <a:r>
              <a:rPr spc="85" dirty="0"/>
              <a:t>Manual</a:t>
            </a:r>
            <a:r>
              <a:rPr spc="-75" dirty="0"/>
              <a:t> </a:t>
            </a:r>
            <a:r>
              <a:rPr spc="50" dirty="0"/>
              <a:t>Returns</a:t>
            </a:r>
            <a:r>
              <a:rPr spc="-75" dirty="0"/>
              <a:t> </a:t>
            </a:r>
            <a:r>
              <a:rPr spc="70" dirty="0"/>
              <a:t>Cost</a:t>
            </a:r>
            <a:r>
              <a:rPr spc="-75" dirty="0"/>
              <a:t> </a:t>
            </a:r>
            <a:r>
              <a:rPr spc="110" dirty="0"/>
              <a:t>Money </a:t>
            </a:r>
            <a:r>
              <a:rPr spc="130" dirty="0"/>
              <a:t>and</a:t>
            </a:r>
            <a:r>
              <a:rPr spc="-85" dirty="0"/>
              <a:t> </a:t>
            </a:r>
            <a:r>
              <a:rPr spc="75" dirty="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353" y="1987150"/>
            <a:ext cx="5828665" cy="8636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55"/>
              </a:spcBef>
            </a:pP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E-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commerce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companies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face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mounting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pressure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from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inefficient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returns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processes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that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drain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resources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expose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vulnerabilities.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Manual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creates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bottlenecks,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while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threatens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profitability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at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scale.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57225" y="3105149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08175" y="0"/>
                </a:moveTo>
                <a:lnTo>
                  <a:pt x="20449" y="0"/>
                </a:lnTo>
                <a:lnTo>
                  <a:pt x="17442" y="596"/>
                </a:lnTo>
                <a:lnTo>
                  <a:pt x="0" y="20447"/>
                </a:lnTo>
                <a:lnTo>
                  <a:pt x="0" y="405053"/>
                </a:lnTo>
                <a:lnTo>
                  <a:pt x="0" y="408178"/>
                </a:lnTo>
                <a:lnTo>
                  <a:pt x="20449" y="428625"/>
                </a:lnTo>
                <a:lnTo>
                  <a:pt x="408175" y="428625"/>
                </a:lnTo>
                <a:lnTo>
                  <a:pt x="428625" y="408178"/>
                </a:lnTo>
                <a:lnTo>
                  <a:pt x="428625" y="20447"/>
                </a:lnTo>
                <a:lnTo>
                  <a:pt x="411182" y="596"/>
                </a:lnTo>
                <a:lnTo>
                  <a:pt x="408175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60221" y="3154362"/>
            <a:ext cx="1975485" cy="21158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238125">
              <a:lnSpc>
                <a:spcPct val="106100"/>
              </a:lnSpc>
              <a:spcBef>
                <a:spcPts val="15"/>
              </a:spcBef>
            </a:pPr>
            <a:r>
              <a:rPr sz="1650" b="1" spc="-280" dirty="0">
                <a:solidFill>
                  <a:srgbClr val="E2E6E9"/>
                </a:solidFill>
                <a:latin typeface="Tahoma"/>
                <a:cs typeface="Tahoma"/>
              </a:rPr>
              <a:t>15+</a:t>
            </a:r>
            <a:r>
              <a:rPr sz="1650" b="1" spc="-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Minutes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35" dirty="0">
                <a:solidFill>
                  <a:srgbClr val="E2E6E9"/>
                </a:solidFill>
                <a:latin typeface="Tahoma"/>
                <a:cs typeface="Tahoma"/>
              </a:rPr>
              <a:t>Per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Request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8200"/>
              </a:lnSpc>
              <a:spcBef>
                <a:spcPts val="1180"/>
              </a:spcBef>
            </a:pP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Manual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data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entry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and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verification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slow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operations,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creating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customer</a:t>
            </a:r>
            <a:r>
              <a:rPr sz="1450" spc="-8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frustration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and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operational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inefficiency.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14750" y="3105149"/>
            <a:ext cx="428625" cy="428625"/>
          </a:xfrm>
          <a:custGeom>
            <a:avLst/>
            <a:gdLst/>
            <a:ahLst/>
            <a:cxnLst/>
            <a:rect l="l" t="t" r="r" b="b"/>
            <a:pathLst>
              <a:path w="428625" h="428625">
                <a:moveTo>
                  <a:pt x="408178" y="0"/>
                </a:moveTo>
                <a:lnTo>
                  <a:pt x="20447" y="0"/>
                </a:lnTo>
                <a:lnTo>
                  <a:pt x="17437" y="596"/>
                </a:lnTo>
                <a:lnTo>
                  <a:pt x="0" y="20447"/>
                </a:lnTo>
                <a:lnTo>
                  <a:pt x="0" y="405053"/>
                </a:lnTo>
                <a:lnTo>
                  <a:pt x="0" y="408178"/>
                </a:lnTo>
                <a:lnTo>
                  <a:pt x="20447" y="428625"/>
                </a:lnTo>
                <a:lnTo>
                  <a:pt x="408178" y="428625"/>
                </a:lnTo>
                <a:lnTo>
                  <a:pt x="428625" y="408178"/>
                </a:lnTo>
                <a:lnTo>
                  <a:pt x="428625" y="20447"/>
                </a:lnTo>
                <a:lnTo>
                  <a:pt x="411187" y="596"/>
                </a:lnTo>
                <a:lnTo>
                  <a:pt x="408178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19092" y="3154362"/>
            <a:ext cx="2141220" cy="18300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73660">
              <a:lnSpc>
                <a:spcPct val="106100"/>
              </a:lnSpc>
              <a:spcBef>
                <a:spcPts val="15"/>
              </a:spcBef>
            </a:pPr>
            <a:r>
              <a:rPr sz="1650" b="1" spc="-110" dirty="0">
                <a:solidFill>
                  <a:srgbClr val="E2E6E9"/>
                </a:solidFill>
                <a:latin typeface="Tahoma"/>
                <a:cs typeface="Tahoma"/>
              </a:rPr>
              <a:t>$103</a:t>
            </a:r>
            <a:r>
              <a:rPr sz="1650" b="1" spc="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Billion</a:t>
            </a:r>
            <a:r>
              <a:rPr sz="1650" b="1" spc="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Lost</a:t>
            </a:r>
            <a:r>
              <a:rPr sz="1650" b="1" spc="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E2E6E9"/>
                </a:solidFill>
                <a:latin typeface="Tahoma"/>
                <a:cs typeface="Tahoma"/>
              </a:rPr>
              <a:t>to 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650" b="1" spc="2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Annually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7899"/>
              </a:lnSpc>
              <a:spcBef>
                <a:spcPts val="1185"/>
              </a:spcBef>
            </a:pP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15%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of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all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involve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fraudulent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claims,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draining profit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margins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across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the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industry.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7225" y="5686425"/>
            <a:ext cx="428625" cy="419100"/>
          </a:xfrm>
          <a:custGeom>
            <a:avLst/>
            <a:gdLst/>
            <a:ahLst/>
            <a:cxnLst/>
            <a:rect l="l" t="t" r="r" b="b"/>
            <a:pathLst>
              <a:path w="428625" h="419100">
                <a:moveTo>
                  <a:pt x="408175" y="0"/>
                </a:moveTo>
                <a:lnTo>
                  <a:pt x="20449" y="0"/>
                </a:lnTo>
                <a:lnTo>
                  <a:pt x="17442" y="596"/>
                </a:lnTo>
                <a:lnTo>
                  <a:pt x="0" y="20447"/>
                </a:lnTo>
                <a:lnTo>
                  <a:pt x="0" y="395528"/>
                </a:lnTo>
                <a:lnTo>
                  <a:pt x="0" y="398653"/>
                </a:lnTo>
                <a:lnTo>
                  <a:pt x="20449" y="419100"/>
                </a:lnTo>
                <a:lnTo>
                  <a:pt x="408175" y="419100"/>
                </a:lnTo>
                <a:lnTo>
                  <a:pt x="428625" y="398653"/>
                </a:lnTo>
                <a:lnTo>
                  <a:pt x="428625" y="20447"/>
                </a:lnTo>
                <a:lnTo>
                  <a:pt x="411182" y="596"/>
                </a:lnTo>
                <a:lnTo>
                  <a:pt x="408175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0221" y="5735637"/>
            <a:ext cx="5142865" cy="9918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Zero</a:t>
            </a:r>
            <a:r>
              <a:rPr sz="1650" b="1" spc="-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Trail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5000"/>
              </a:lnSpc>
              <a:spcBef>
                <a:spcPts val="1235"/>
              </a:spcBef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No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history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creates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risks,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accountability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gaps, and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inconsistent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enforcement.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0400" y="2085975"/>
            <a:ext cx="3771899" cy="37718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86700"/>
          </a:xfrm>
          <a:custGeom>
            <a:avLst/>
            <a:gdLst/>
            <a:ahLst/>
            <a:cxnLst/>
            <a:rect l="l" t="t" r="r" b="b"/>
            <a:pathLst>
              <a:path w="11430000" h="7886700">
                <a:moveTo>
                  <a:pt x="11430000" y="0"/>
                </a:moveTo>
                <a:lnTo>
                  <a:pt x="0" y="0"/>
                </a:lnTo>
                <a:lnTo>
                  <a:pt x="0" y="7886700"/>
                </a:lnTo>
                <a:lnTo>
                  <a:pt x="11430000" y="78867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7353" y="463550"/>
            <a:ext cx="9848215" cy="111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spc="60" dirty="0"/>
              <a:t>ReturnGuard</a:t>
            </a:r>
            <a:r>
              <a:rPr spc="-65" dirty="0"/>
              <a:t> </a:t>
            </a:r>
            <a:r>
              <a:rPr spc="-215" dirty="0"/>
              <a:t>AI:</a:t>
            </a:r>
            <a:r>
              <a:rPr spc="-55" dirty="0"/>
              <a:t> </a:t>
            </a:r>
            <a:r>
              <a:rPr dirty="0"/>
              <a:t>Intelligent</a:t>
            </a:r>
            <a:r>
              <a:rPr spc="-65" dirty="0"/>
              <a:t> </a:t>
            </a:r>
            <a:r>
              <a:rPr spc="100" dirty="0"/>
              <a:t>Automation</a:t>
            </a:r>
            <a:r>
              <a:rPr spc="-50" dirty="0"/>
              <a:t> </a:t>
            </a:r>
            <a:r>
              <a:rPr spc="35" dirty="0"/>
              <a:t>That </a:t>
            </a:r>
            <a:r>
              <a:rPr spc="45" dirty="0"/>
              <a:t>Scales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353" y="1910950"/>
            <a:ext cx="10054590" cy="577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Transform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from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cost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center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into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competitive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advantage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AI-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powered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automation,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detection,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and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complete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7225" y="2743199"/>
            <a:ext cx="4962525" cy="2076450"/>
            <a:chOff x="657225" y="2743199"/>
            <a:chExt cx="4962525" cy="2076450"/>
          </a:xfrm>
        </p:grpSpPr>
        <p:sp>
          <p:nvSpPr>
            <p:cNvPr id="6" name="object 6"/>
            <p:cNvSpPr/>
            <p:nvPr/>
          </p:nvSpPr>
          <p:spPr>
            <a:xfrm>
              <a:off x="657225" y="2743199"/>
              <a:ext cx="4962525" cy="2076450"/>
            </a:xfrm>
            <a:custGeom>
              <a:avLst/>
              <a:gdLst/>
              <a:ahLst/>
              <a:cxnLst/>
              <a:rect l="l" t="t" r="r" b="b"/>
              <a:pathLst>
                <a:path w="4962525" h="2076450">
                  <a:moveTo>
                    <a:pt x="4942078" y="0"/>
                  </a:moveTo>
                  <a:lnTo>
                    <a:pt x="20449" y="0"/>
                  </a:lnTo>
                  <a:lnTo>
                    <a:pt x="17442" y="596"/>
                  </a:lnTo>
                  <a:lnTo>
                    <a:pt x="0" y="20447"/>
                  </a:lnTo>
                  <a:lnTo>
                    <a:pt x="0" y="2052878"/>
                  </a:lnTo>
                  <a:lnTo>
                    <a:pt x="0" y="2056003"/>
                  </a:lnTo>
                  <a:lnTo>
                    <a:pt x="20449" y="2076450"/>
                  </a:lnTo>
                  <a:lnTo>
                    <a:pt x="4942078" y="2076450"/>
                  </a:lnTo>
                  <a:lnTo>
                    <a:pt x="4962525" y="2056003"/>
                  </a:lnTo>
                  <a:lnTo>
                    <a:pt x="4962525" y="20447"/>
                  </a:lnTo>
                  <a:lnTo>
                    <a:pt x="4945087" y="596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2F3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7725" y="2933699"/>
              <a:ext cx="561975" cy="561975"/>
            </a:xfrm>
            <a:custGeom>
              <a:avLst/>
              <a:gdLst/>
              <a:ahLst/>
              <a:cxnLst/>
              <a:rect l="l" t="t" r="r" b="b"/>
              <a:pathLst>
                <a:path w="561975" h="561975">
                  <a:moveTo>
                    <a:pt x="280987" y="0"/>
                  </a:moveTo>
                  <a:lnTo>
                    <a:pt x="239756" y="3038"/>
                  </a:lnTo>
                  <a:lnTo>
                    <a:pt x="199419" y="12103"/>
                  </a:lnTo>
                  <a:lnTo>
                    <a:pt x="160849" y="26976"/>
                  </a:lnTo>
                  <a:lnTo>
                    <a:pt x="124876" y="47358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31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84" y="287886"/>
                  </a:lnTo>
                  <a:lnTo>
                    <a:pt x="4135" y="329023"/>
                  </a:lnTo>
                  <a:lnTo>
                    <a:pt x="14181" y="369126"/>
                  </a:lnTo>
                  <a:lnTo>
                    <a:pt x="30000" y="407324"/>
                  </a:lnTo>
                  <a:lnTo>
                    <a:pt x="51258" y="442781"/>
                  </a:lnTo>
                  <a:lnTo>
                    <a:pt x="77480" y="474737"/>
                  </a:lnTo>
                  <a:lnTo>
                    <a:pt x="108116" y="502506"/>
                  </a:lnTo>
                  <a:lnTo>
                    <a:pt x="142487" y="525473"/>
                  </a:lnTo>
                  <a:lnTo>
                    <a:pt x="179864" y="543147"/>
                  </a:lnTo>
                  <a:lnTo>
                    <a:pt x="219420" y="555143"/>
                  </a:lnTo>
                  <a:lnTo>
                    <a:pt x="260317" y="561214"/>
                  </a:lnTo>
                  <a:lnTo>
                    <a:pt x="280987" y="561975"/>
                  </a:lnTo>
                  <a:lnTo>
                    <a:pt x="287885" y="561891"/>
                  </a:lnTo>
                  <a:lnTo>
                    <a:pt x="329025" y="557837"/>
                  </a:lnTo>
                  <a:lnTo>
                    <a:pt x="369130" y="547790"/>
                  </a:lnTo>
                  <a:lnTo>
                    <a:pt x="407321" y="531974"/>
                  </a:lnTo>
                  <a:lnTo>
                    <a:pt x="442787" y="510713"/>
                  </a:lnTo>
                  <a:lnTo>
                    <a:pt x="474737" y="484493"/>
                  </a:lnTo>
                  <a:lnTo>
                    <a:pt x="502508" y="453860"/>
                  </a:lnTo>
                  <a:lnTo>
                    <a:pt x="525473" y="419491"/>
                  </a:lnTo>
                  <a:lnTo>
                    <a:pt x="543147" y="382110"/>
                  </a:lnTo>
                  <a:lnTo>
                    <a:pt x="555151" y="342551"/>
                  </a:lnTo>
                  <a:lnTo>
                    <a:pt x="561208" y="301650"/>
                  </a:lnTo>
                  <a:lnTo>
                    <a:pt x="561975" y="280987"/>
                  </a:lnTo>
                  <a:lnTo>
                    <a:pt x="561889" y="274086"/>
                  </a:lnTo>
                  <a:lnTo>
                    <a:pt x="557837" y="232951"/>
                  </a:lnTo>
                  <a:lnTo>
                    <a:pt x="547790" y="192841"/>
                  </a:lnTo>
                  <a:lnTo>
                    <a:pt x="531976" y="154650"/>
                  </a:lnTo>
                  <a:lnTo>
                    <a:pt x="510718" y="119193"/>
                  </a:lnTo>
                  <a:lnTo>
                    <a:pt x="484493" y="87237"/>
                  </a:lnTo>
                  <a:lnTo>
                    <a:pt x="453860" y="59472"/>
                  </a:lnTo>
                  <a:lnTo>
                    <a:pt x="419487" y="36506"/>
                  </a:lnTo>
                  <a:lnTo>
                    <a:pt x="382110" y="18827"/>
                  </a:lnTo>
                  <a:lnTo>
                    <a:pt x="342554" y="6823"/>
                  </a:lnTo>
                  <a:lnTo>
                    <a:pt x="301658" y="760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1934" y="3086099"/>
              <a:ext cx="191135" cy="254635"/>
            </a:xfrm>
            <a:custGeom>
              <a:avLst/>
              <a:gdLst/>
              <a:ahLst/>
              <a:cxnLst/>
              <a:rect l="l" t="t" r="r" b="b"/>
              <a:pathLst>
                <a:path w="191134" h="254635">
                  <a:moveTo>
                    <a:pt x="120639" y="0"/>
                  </a:moveTo>
                  <a:lnTo>
                    <a:pt x="22815" y="0"/>
                  </a:lnTo>
                  <a:lnTo>
                    <a:pt x="15909" y="6858"/>
                  </a:lnTo>
                  <a:lnTo>
                    <a:pt x="15831" y="15900"/>
                  </a:lnTo>
                  <a:lnTo>
                    <a:pt x="54" y="126352"/>
                  </a:lnTo>
                  <a:lnTo>
                    <a:pt x="0" y="136245"/>
                  </a:lnTo>
                  <a:lnTo>
                    <a:pt x="6910" y="143154"/>
                  </a:lnTo>
                  <a:lnTo>
                    <a:pt x="89227" y="143154"/>
                  </a:lnTo>
                  <a:lnTo>
                    <a:pt x="63326" y="246888"/>
                  </a:lnTo>
                  <a:lnTo>
                    <a:pt x="69194" y="254444"/>
                  </a:lnTo>
                  <a:lnTo>
                    <a:pt x="81319" y="254444"/>
                  </a:lnTo>
                  <a:lnTo>
                    <a:pt x="85149" y="252463"/>
                  </a:lnTo>
                  <a:lnTo>
                    <a:pt x="87436" y="249085"/>
                  </a:lnTo>
                  <a:lnTo>
                    <a:pt x="104751" y="223774"/>
                  </a:lnTo>
                  <a:lnTo>
                    <a:pt x="85446" y="223774"/>
                  </a:lnTo>
                  <a:lnTo>
                    <a:pt x="107716" y="134759"/>
                  </a:lnTo>
                  <a:lnTo>
                    <a:pt x="107171" y="132270"/>
                  </a:lnTo>
                  <a:lnTo>
                    <a:pt x="104184" y="128384"/>
                  </a:lnTo>
                  <a:lnTo>
                    <a:pt x="101852" y="127254"/>
                  </a:lnTo>
                  <a:lnTo>
                    <a:pt x="16008" y="127254"/>
                  </a:lnTo>
                  <a:lnTo>
                    <a:pt x="31601" y="17995"/>
                  </a:lnTo>
                  <a:lnTo>
                    <a:pt x="31664" y="17551"/>
                  </a:lnTo>
                  <a:lnTo>
                    <a:pt x="31765" y="16992"/>
                  </a:lnTo>
                  <a:lnTo>
                    <a:pt x="31814" y="15900"/>
                  </a:lnTo>
                  <a:lnTo>
                    <a:pt x="127247" y="15900"/>
                  </a:lnTo>
                  <a:lnTo>
                    <a:pt x="127247" y="6604"/>
                  </a:lnTo>
                  <a:lnTo>
                    <a:pt x="120639" y="0"/>
                  </a:lnTo>
                  <a:close/>
                </a:path>
                <a:path w="191134" h="254635">
                  <a:moveTo>
                    <a:pt x="127247" y="15900"/>
                  </a:moveTo>
                  <a:lnTo>
                    <a:pt x="110896" y="15900"/>
                  </a:lnTo>
                  <a:lnTo>
                    <a:pt x="87882" y="85001"/>
                  </a:lnTo>
                  <a:lnTo>
                    <a:pt x="87088" y="87426"/>
                  </a:lnTo>
                  <a:lnTo>
                    <a:pt x="87486" y="90119"/>
                  </a:lnTo>
                  <a:lnTo>
                    <a:pt x="90467" y="94195"/>
                  </a:lnTo>
                  <a:lnTo>
                    <a:pt x="92903" y="95440"/>
                  </a:lnTo>
                  <a:lnTo>
                    <a:pt x="173280" y="95440"/>
                  </a:lnTo>
                  <a:lnTo>
                    <a:pt x="85446" y="223774"/>
                  </a:lnTo>
                  <a:lnTo>
                    <a:pt x="104751" y="223774"/>
                  </a:lnTo>
                  <a:lnTo>
                    <a:pt x="190028" y="99110"/>
                  </a:lnTo>
                  <a:lnTo>
                    <a:pt x="190872" y="96380"/>
                  </a:lnTo>
                  <a:lnTo>
                    <a:pt x="190872" y="85788"/>
                  </a:lnTo>
                  <a:lnTo>
                    <a:pt x="184611" y="79527"/>
                  </a:lnTo>
                  <a:lnTo>
                    <a:pt x="106471" y="79527"/>
                  </a:lnTo>
                  <a:lnTo>
                    <a:pt x="127000" y="17995"/>
                  </a:lnTo>
                  <a:lnTo>
                    <a:pt x="127068" y="17551"/>
                  </a:lnTo>
                  <a:lnTo>
                    <a:pt x="127155" y="16992"/>
                  </a:lnTo>
                  <a:lnTo>
                    <a:pt x="127247" y="15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5917" y="3520242"/>
            <a:ext cx="4487545" cy="10737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spc="-204" dirty="0">
                <a:solidFill>
                  <a:srgbClr val="E2E6E9"/>
                </a:solidFill>
                <a:latin typeface="Tahoma"/>
                <a:cs typeface="Tahoma"/>
              </a:rPr>
              <a:t>15-</a:t>
            </a:r>
            <a:r>
              <a:rPr sz="1650" b="1" spc="70" dirty="0">
                <a:solidFill>
                  <a:srgbClr val="E2E6E9"/>
                </a:solidFill>
                <a:latin typeface="Tahoma"/>
                <a:cs typeface="Tahoma"/>
              </a:rPr>
              <a:t>Second</a:t>
            </a:r>
            <a:r>
              <a:rPr sz="1650" b="1" spc="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95%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faster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than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manual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review.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Auto-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approve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legitimate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instantly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while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maintaining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accuracy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control.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250" y="2743199"/>
            <a:ext cx="4962525" cy="2076450"/>
            <a:chOff x="5810250" y="2743199"/>
            <a:chExt cx="4962525" cy="2076450"/>
          </a:xfrm>
        </p:grpSpPr>
        <p:sp>
          <p:nvSpPr>
            <p:cNvPr id="11" name="object 11"/>
            <p:cNvSpPr/>
            <p:nvPr/>
          </p:nvSpPr>
          <p:spPr>
            <a:xfrm>
              <a:off x="5810250" y="2743199"/>
              <a:ext cx="4962525" cy="2076450"/>
            </a:xfrm>
            <a:custGeom>
              <a:avLst/>
              <a:gdLst/>
              <a:ahLst/>
              <a:cxnLst/>
              <a:rect l="l" t="t" r="r" b="b"/>
              <a:pathLst>
                <a:path w="4962525" h="2076450">
                  <a:moveTo>
                    <a:pt x="4942078" y="0"/>
                  </a:moveTo>
                  <a:lnTo>
                    <a:pt x="20447" y="0"/>
                  </a:lnTo>
                  <a:lnTo>
                    <a:pt x="17437" y="596"/>
                  </a:lnTo>
                  <a:lnTo>
                    <a:pt x="0" y="20447"/>
                  </a:lnTo>
                  <a:lnTo>
                    <a:pt x="0" y="2052878"/>
                  </a:lnTo>
                  <a:lnTo>
                    <a:pt x="0" y="2056003"/>
                  </a:lnTo>
                  <a:lnTo>
                    <a:pt x="20447" y="2076450"/>
                  </a:lnTo>
                  <a:lnTo>
                    <a:pt x="4942078" y="2076450"/>
                  </a:lnTo>
                  <a:lnTo>
                    <a:pt x="4962525" y="2056003"/>
                  </a:lnTo>
                  <a:lnTo>
                    <a:pt x="4962525" y="20447"/>
                  </a:lnTo>
                  <a:lnTo>
                    <a:pt x="4945087" y="596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2F3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0750" y="2933699"/>
              <a:ext cx="561975" cy="561975"/>
            </a:xfrm>
            <a:custGeom>
              <a:avLst/>
              <a:gdLst/>
              <a:ahLst/>
              <a:cxnLst/>
              <a:rect l="l" t="t" r="r" b="b"/>
              <a:pathLst>
                <a:path w="561975" h="561975">
                  <a:moveTo>
                    <a:pt x="280987" y="0"/>
                  </a:moveTo>
                  <a:lnTo>
                    <a:pt x="239755" y="3038"/>
                  </a:lnTo>
                  <a:lnTo>
                    <a:pt x="199415" y="12103"/>
                  </a:lnTo>
                  <a:lnTo>
                    <a:pt x="160848" y="26976"/>
                  </a:lnTo>
                  <a:lnTo>
                    <a:pt x="124879" y="47358"/>
                  </a:lnTo>
                  <a:lnTo>
                    <a:pt x="92289" y="72790"/>
                  </a:lnTo>
                  <a:lnTo>
                    <a:pt x="63779" y="102730"/>
                  </a:lnTo>
                  <a:lnTo>
                    <a:pt x="39976" y="136531"/>
                  </a:lnTo>
                  <a:lnTo>
                    <a:pt x="21386" y="173456"/>
                  </a:lnTo>
                  <a:lnTo>
                    <a:pt x="8416" y="212713"/>
                  </a:lnTo>
                  <a:lnTo>
                    <a:pt x="1358" y="253441"/>
                  </a:lnTo>
                  <a:lnTo>
                    <a:pt x="0" y="280987"/>
                  </a:lnTo>
                  <a:lnTo>
                    <a:pt x="85" y="287886"/>
                  </a:lnTo>
                  <a:lnTo>
                    <a:pt x="4137" y="329023"/>
                  </a:lnTo>
                  <a:lnTo>
                    <a:pt x="14184" y="369126"/>
                  </a:lnTo>
                  <a:lnTo>
                    <a:pt x="30003" y="407324"/>
                  </a:lnTo>
                  <a:lnTo>
                    <a:pt x="51258" y="442781"/>
                  </a:lnTo>
                  <a:lnTo>
                    <a:pt x="77481" y="474737"/>
                  </a:lnTo>
                  <a:lnTo>
                    <a:pt x="108114" y="502506"/>
                  </a:lnTo>
                  <a:lnTo>
                    <a:pt x="142484" y="525473"/>
                  </a:lnTo>
                  <a:lnTo>
                    <a:pt x="179864" y="543147"/>
                  </a:lnTo>
                  <a:lnTo>
                    <a:pt x="219423" y="555143"/>
                  </a:lnTo>
                  <a:lnTo>
                    <a:pt x="260318" y="561214"/>
                  </a:lnTo>
                  <a:lnTo>
                    <a:pt x="280987" y="561975"/>
                  </a:lnTo>
                  <a:lnTo>
                    <a:pt x="287888" y="561891"/>
                  </a:lnTo>
                  <a:lnTo>
                    <a:pt x="329018" y="557837"/>
                  </a:lnTo>
                  <a:lnTo>
                    <a:pt x="369132" y="547790"/>
                  </a:lnTo>
                  <a:lnTo>
                    <a:pt x="407324" y="531974"/>
                  </a:lnTo>
                  <a:lnTo>
                    <a:pt x="442787" y="510713"/>
                  </a:lnTo>
                  <a:lnTo>
                    <a:pt x="474737" y="484493"/>
                  </a:lnTo>
                  <a:lnTo>
                    <a:pt x="502508" y="453860"/>
                  </a:lnTo>
                  <a:lnTo>
                    <a:pt x="525473" y="419491"/>
                  </a:lnTo>
                  <a:lnTo>
                    <a:pt x="543147" y="382110"/>
                  </a:lnTo>
                  <a:lnTo>
                    <a:pt x="555149" y="342551"/>
                  </a:lnTo>
                  <a:lnTo>
                    <a:pt x="561208" y="301650"/>
                  </a:lnTo>
                  <a:lnTo>
                    <a:pt x="561975" y="280987"/>
                  </a:lnTo>
                  <a:lnTo>
                    <a:pt x="561889" y="274086"/>
                  </a:lnTo>
                  <a:lnTo>
                    <a:pt x="557837" y="232951"/>
                  </a:lnTo>
                  <a:lnTo>
                    <a:pt x="547790" y="192841"/>
                  </a:lnTo>
                  <a:lnTo>
                    <a:pt x="531976" y="154650"/>
                  </a:lnTo>
                  <a:lnTo>
                    <a:pt x="510718" y="119193"/>
                  </a:lnTo>
                  <a:lnTo>
                    <a:pt x="484493" y="87237"/>
                  </a:lnTo>
                  <a:lnTo>
                    <a:pt x="453860" y="59472"/>
                  </a:lnTo>
                  <a:lnTo>
                    <a:pt x="419490" y="36506"/>
                  </a:lnTo>
                  <a:lnTo>
                    <a:pt x="382110" y="18827"/>
                  </a:lnTo>
                  <a:lnTo>
                    <a:pt x="342551" y="6823"/>
                  </a:lnTo>
                  <a:lnTo>
                    <a:pt x="301661" y="760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153150" y="3086099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5" h="254635">
                  <a:moveTo>
                    <a:pt x="87477" y="222681"/>
                  </a:moveTo>
                  <a:lnTo>
                    <a:pt x="71577" y="222681"/>
                  </a:lnTo>
                  <a:lnTo>
                    <a:pt x="71577" y="250913"/>
                  </a:lnTo>
                  <a:lnTo>
                    <a:pt x="75158" y="254495"/>
                  </a:lnTo>
                  <a:lnTo>
                    <a:pt x="83908" y="254495"/>
                  </a:lnTo>
                  <a:lnTo>
                    <a:pt x="87477" y="250913"/>
                  </a:lnTo>
                  <a:lnTo>
                    <a:pt x="87477" y="222681"/>
                  </a:lnTo>
                  <a:close/>
                </a:path>
                <a:path w="254635" h="254635">
                  <a:moveTo>
                    <a:pt x="135204" y="222681"/>
                  </a:moveTo>
                  <a:lnTo>
                    <a:pt x="119291" y="222681"/>
                  </a:lnTo>
                  <a:lnTo>
                    <a:pt x="119291" y="250913"/>
                  </a:lnTo>
                  <a:lnTo>
                    <a:pt x="122872" y="254495"/>
                  </a:lnTo>
                  <a:lnTo>
                    <a:pt x="131622" y="254495"/>
                  </a:lnTo>
                  <a:lnTo>
                    <a:pt x="135204" y="250913"/>
                  </a:lnTo>
                  <a:lnTo>
                    <a:pt x="135204" y="222681"/>
                  </a:lnTo>
                  <a:close/>
                </a:path>
                <a:path w="254635" h="254635">
                  <a:moveTo>
                    <a:pt x="182918" y="222681"/>
                  </a:moveTo>
                  <a:lnTo>
                    <a:pt x="167017" y="222681"/>
                  </a:lnTo>
                  <a:lnTo>
                    <a:pt x="167017" y="250913"/>
                  </a:lnTo>
                  <a:lnTo>
                    <a:pt x="170586" y="254495"/>
                  </a:lnTo>
                  <a:lnTo>
                    <a:pt x="179336" y="254495"/>
                  </a:lnTo>
                  <a:lnTo>
                    <a:pt x="182918" y="250913"/>
                  </a:lnTo>
                  <a:lnTo>
                    <a:pt x="182918" y="222681"/>
                  </a:lnTo>
                  <a:close/>
                </a:path>
                <a:path w="254635" h="254635">
                  <a:moveTo>
                    <a:pt x="190868" y="31813"/>
                  </a:moveTo>
                  <a:lnTo>
                    <a:pt x="63627" y="31813"/>
                  </a:lnTo>
                  <a:lnTo>
                    <a:pt x="51251" y="34316"/>
                  </a:lnTo>
                  <a:lnTo>
                    <a:pt x="41138" y="41138"/>
                  </a:lnTo>
                  <a:lnTo>
                    <a:pt x="34316" y="51251"/>
                  </a:lnTo>
                  <a:lnTo>
                    <a:pt x="31813" y="63627"/>
                  </a:lnTo>
                  <a:lnTo>
                    <a:pt x="31813" y="71577"/>
                  </a:lnTo>
                  <a:lnTo>
                    <a:pt x="3581" y="71577"/>
                  </a:lnTo>
                  <a:lnTo>
                    <a:pt x="0" y="75158"/>
                  </a:lnTo>
                  <a:lnTo>
                    <a:pt x="0" y="83908"/>
                  </a:lnTo>
                  <a:lnTo>
                    <a:pt x="3581" y="87477"/>
                  </a:lnTo>
                  <a:lnTo>
                    <a:pt x="31813" y="87477"/>
                  </a:lnTo>
                  <a:lnTo>
                    <a:pt x="31813" y="119291"/>
                  </a:lnTo>
                  <a:lnTo>
                    <a:pt x="3581" y="119291"/>
                  </a:lnTo>
                  <a:lnTo>
                    <a:pt x="0" y="122872"/>
                  </a:lnTo>
                  <a:lnTo>
                    <a:pt x="0" y="131622"/>
                  </a:lnTo>
                  <a:lnTo>
                    <a:pt x="3581" y="135204"/>
                  </a:lnTo>
                  <a:lnTo>
                    <a:pt x="31813" y="135204"/>
                  </a:lnTo>
                  <a:lnTo>
                    <a:pt x="31813" y="167005"/>
                  </a:lnTo>
                  <a:lnTo>
                    <a:pt x="3581" y="167005"/>
                  </a:lnTo>
                  <a:lnTo>
                    <a:pt x="0" y="170586"/>
                  </a:lnTo>
                  <a:lnTo>
                    <a:pt x="0" y="179336"/>
                  </a:lnTo>
                  <a:lnTo>
                    <a:pt x="3581" y="182918"/>
                  </a:lnTo>
                  <a:lnTo>
                    <a:pt x="31813" y="182918"/>
                  </a:lnTo>
                  <a:lnTo>
                    <a:pt x="31813" y="190868"/>
                  </a:lnTo>
                  <a:lnTo>
                    <a:pt x="34316" y="203243"/>
                  </a:lnTo>
                  <a:lnTo>
                    <a:pt x="41138" y="213356"/>
                  </a:lnTo>
                  <a:lnTo>
                    <a:pt x="51251" y="220179"/>
                  </a:lnTo>
                  <a:lnTo>
                    <a:pt x="63627" y="222681"/>
                  </a:lnTo>
                  <a:lnTo>
                    <a:pt x="190868" y="222681"/>
                  </a:lnTo>
                  <a:lnTo>
                    <a:pt x="203243" y="220179"/>
                  </a:lnTo>
                  <a:lnTo>
                    <a:pt x="213356" y="213356"/>
                  </a:lnTo>
                  <a:lnTo>
                    <a:pt x="217792" y="206781"/>
                  </a:lnTo>
                  <a:lnTo>
                    <a:pt x="54825" y="206781"/>
                  </a:lnTo>
                  <a:lnTo>
                    <a:pt x="47713" y="199669"/>
                  </a:lnTo>
                  <a:lnTo>
                    <a:pt x="47713" y="54825"/>
                  </a:lnTo>
                  <a:lnTo>
                    <a:pt x="54825" y="47713"/>
                  </a:lnTo>
                  <a:lnTo>
                    <a:pt x="217792" y="47713"/>
                  </a:lnTo>
                  <a:lnTo>
                    <a:pt x="213356" y="41138"/>
                  </a:lnTo>
                  <a:lnTo>
                    <a:pt x="203243" y="34316"/>
                  </a:lnTo>
                  <a:lnTo>
                    <a:pt x="190868" y="31813"/>
                  </a:lnTo>
                  <a:close/>
                </a:path>
                <a:path w="254635" h="254635">
                  <a:moveTo>
                    <a:pt x="217792" y="47713"/>
                  </a:moveTo>
                  <a:lnTo>
                    <a:pt x="199669" y="47713"/>
                  </a:lnTo>
                  <a:lnTo>
                    <a:pt x="206781" y="54825"/>
                  </a:lnTo>
                  <a:lnTo>
                    <a:pt x="206781" y="199669"/>
                  </a:lnTo>
                  <a:lnTo>
                    <a:pt x="199669" y="206781"/>
                  </a:lnTo>
                  <a:lnTo>
                    <a:pt x="217792" y="206781"/>
                  </a:lnTo>
                  <a:lnTo>
                    <a:pt x="220179" y="203243"/>
                  </a:lnTo>
                  <a:lnTo>
                    <a:pt x="222681" y="190868"/>
                  </a:lnTo>
                  <a:lnTo>
                    <a:pt x="222681" y="182918"/>
                  </a:lnTo>
                  <a:lnTo>
                    <a:pt x="250913" y="182918"/>
                  </a:lnTo>
                  <a:lnTo>
                    <a:pt x="254495" y="179336"/>
                  </a:lnTo>
                  <a:lnTo>
                    <a:pt x="254495" y="170586"/>
                  </a:lnTo>
                  <a:lnTo>
                    <a:pt x="250913" y="167005"/>
                  </a:lnTo>
                  <a:lnTo>
                    <a:pt x="222681" y="167005"/>
                  </a:lnTo>
                  <a:lnTo>
                    <a:pt x="222681" y="135204"/>
                  </a:lnTo>
                  <a:lnTo>
                    <a:pt x="250913" y="135204"/>
                  </a:lnTo>
                  <a:lnTo>
                    <a:pt x="254495" y="131622"/>
                  </a:lnTo>
                  <a:lnTo>
                    <a:pt x="254495" y="122872"/>
                  </a:lnTo>
                  <a:lnTo>
                    <a:pt x="250913" y="119291"/>
                  </a:lnTo>
                  <a:lnTo>
                    <a:pt x="222681" y="119291"/>
                  </a:lnTo>
                  <a:lnTo>
                    <a:pt x="222681" y="87477"/>
                  </a:lnTo>
                  <a:lnTo>
                    <a:pt x="250913" y="87477"/>
                  </a:lnTo>
                  <a:lnTo>
                    <a:pt x="254495" y="83908"/>
                  </a:lnTo>
                  <a:lnTo>
                    <a:pt x="254495" y="75158"/>
                  </a:lnTo>
                  <a:lnTo>
                    <a:pt x="250913" y="71577"/>
                  </a:lnTo>
                  <a:lnTo>
                    <a:pt x="222681" y="71577"/>
                  </a:lnTo>
                  <a:lnTo>
                    <a:pt x="222681" y="63627"/>
                  </a:lnTo>
                  <a:lnTo>
                    <a:pt x="220179" y="51251"/>
                  </a:lnTo>
                  <a:lnTo>
                    <a:pt x="217792" y="47713"/>
                  </a:lnTo>
                  <a:close/>
                </a:path>
                <a:path w="254635" h="254635">
                  <a:moveTo>
                    <a:pt x="106692" y="87477"/>
                  </a:moveTo>
                  <a:lnTo>
                    <a:pt x="100176" y="87477"/>
                  </a:lnTo>
                  <a:lnTo>
                    <a:pt x="97370" y="89319"/>
                  </a:lnTo>
                  <a:lnTo>
                    <a:pt x="96127" y="92228"/>
                  </a:lnTo>
                  <a:lnTo>
                    <a:pt x="66529" y="159905"/>
                  </a:lnTo>
                  <a:lnTo>
                    <a:pt x="67921" y="163436"/>
                  </a:lnTo>
                  <a:lnTo>
                    <a:pt x="68465" y="164579"/>
                  </a:lnTo>
                  <a:lnTo>
                    <a:pt x="76517" y="168160"/>
                  </a:lnTo>
                  <a:lnTo>
                    <a:pt x="76272" y="168160"/>
                  </a:lnTo>
                  <a:lnTo>
                    <a:pt x="81127" y="166268"/>
                  </a:lnTo>
                  <a:lnTo>
                    <a:pt x="82833" y="162293"/>
                  </a:lnTo>
                  <a:lnTo>
                    <a:pt x="87731" y="151104"/>
                  </a:lnTo>
                  <a:lnTo>
                    <a:pt x="136442" y="151104"/>
                  </a:lnTo>
                  <a:lnTo>
                    <a:pt x="129485" y="135204"/>
                  </a:lnTo>
                  <a:lnTo>
                    <a:pt x="94691" y="135204"/>
                  </a:lnTo>
                  <a:lnTo>
                    <a:pt x="103390" y="115265"/>
                  </a:lnTo>
                  <a:lnTo>
                    <a:pt x="120761" y="115265"/>
                  </a:lnTo>
                  <a:lnTo>
                    <a:pt x="109409" y="89319"/>
                  </a:lnTo>
                  <a:lnTo>
                    <a:pt x="106692" y="87477"/>
                  </a:lnTo>
                  <a:close/>
                </a:path>
                <a:path w="254635" h="254635">
                  <a:moveTo>
                    <a:pt x="136442" y="151104"/>
                  </a:moveTo>
                  <a:lnTo>
                    <a:pt x="119049" y="151104"/>
                  </a:lnTo>
                  <a:lnTo>
                    <a:pt x="123964" y="162293"/>
                  </a:lnTo>
                  <a:lnTo>
                    <a:pt x="125755" y="166268"/>
                  </a:lnTo>
                  <a:lnTo>
                    <a:pt x="130429" y="168160"/>
                  </a:lnTo>
                  <a:lnTo>
                    <a:pt x="138480" y="164579"/>
                  </a:lnTo>
                  <a:lnTo>
                    <a:pt x="140271" y="159905"/>
                  </a:lnTo>
                  <a:lnTo>
                    <a:pt x="136442" y="151104"/>
                  </a:lnTo>
                  <a:close/>
                </a:path>
                <a:path w="254635" h="254635">
                  <a:moveTo>
                    <a:pt x="171386" y="87477"/>
                  </a:moveTo>
                  <a:lnTo>
                    <a:pt x="162636" y="87477"/>
                  </a:lnTo>
                  <a:lnTo>
                    <a:pt x="159054" y="91059"/>
                  </a:lnTo>
                  <a:lnTo>
                    <a:pt x="159054" y="163436"/>
                  </a:lnTo>
                  <a:lnTo>
                    <a:pt x="162636" y="167005"/>
                  </a:lnTo>
                  <a:lnTo>
                    <a:pt x="171386" y="167005"/>
                  </a:lnTo>
                  <a:lnTo>
                    <a:pt x="174967" y="163436"/>
                  </a:lnTo>
                  <a:lnTo>
                    <a:pt x="174967" y="91059"/>
                  </a:lnTo>
                  <a:lnTo>
                    <a:pt x="171386" y="87477"/>
                  </a:lnTo>
                  <a:close/>
                </a:path>
                <a:path w="254635" h="254635">
                  <a:moveTo>
                    <a:pt x="120761" y="115265"/>
                  </a:moveTo>
                  <a:lnTo>
                    <a:pt x="103390" y="115265"/>
                  </a:lnTo>
                  <a:lnTo>
                    <a:pt x="112141" y="135204"/>
                  </a:lnTo>
                  <a:lnTo>
                    <a:pt x="129485" y="135204"/>
                  </a:lnTo>
                  <a:lnTo>
                    <a:pt x="120761" y="115265"/>
                  </a:lnTo>
                  <a:close/>
                </a:path>
                <a:path w="254635" h="254635">
                  <a:moveTo>
                    <a:pt x="83908" y="0"/>
                  </a:moveTo>
                  <a:lnTo>
                    <a:pt x="75158" y="0"/>
                  </a:lnTo>
                  <a:lnTo>
                    <a:pt x="71577" y="3581"/>
                  </a:lnTo>
                  <a:lnTo>
                    <a:pt x="71577" y="31813"/>
                  </a:lnTo>
                  <a:lnTo>
                    <a:pt x="87477" y="31813"/>
                  </a:lnTo>
                  <a:lnTo>
                    <a:pt x="87477" y="3581"/>
                  </a:lnTo>
                  <a:lnTo>
                    <a:pt x="83908" y="0"/>
                  </a:lnTo>
                  <a:close/>
                </a:path>
                <a:path w="254635" h="254635">
                  <a:moveTo>
                    <a:pt x="131622" y="0"/>
                  </a:moveTo>
                  <a:lnTo>
                    <a:pt x="122872" y="0"/>
                  </a:lnTo>
                  <a:lnTo>
                    <a:pt x="119291" y="3581"/>
                  </a:lnTo>
                  <a:lnTo>
                    <a:pt x="119291" y="31813"/>
                  </a:lnTo>
                  <a:lnTo>
                    <a:pt x="135204" y="31813"/>
                  </a:lnTo>
                  <a:lnTo>
                    <a:pt x="135204" y="3581"/>
                  </a:lnTo>
                  <a:lnTo>
                    <a:pt x="131622" y="0"/>
                  </a:lnTo>
                  <a:close/>
                </a:path>
                <a:path w="254635" h="254635">
                  <a:moveTo>
                    <a:pt x="179336" y="0"/>
                  </a:moveTo>
                  <a:lnTo>
                    <a:pt x="170586" y="0"/>
                  </a:lnTo>
                  <a:lnTo>
                    <a:pt x="167017" y="3581"/>
                  </a:lnTo>
                  <a:lnTo>
                    <a:pt x="167017" y="31813"/>
                  </a:lnTo>
                  <a:lnTo>
                    <a:pt x="182918" y="31813"/>
                  </a:lnTo>
                  <a:lnTo>
                    <a:pt x="182918" y="3581"/>
                  </a:lnTo>
                  <a:lnTo>
                    <a:pt x="179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984646" y="3520242"/>
            <a:ext cx="4567555" cy="10737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650" b="1" spc="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650" b="1" spc="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Detection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Advanced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vision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analysis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compares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claims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against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photos,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catching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mismatches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manual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often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misses.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7225" y="5010150"/>
            <a:ext cx="4962525" cy="2362200"/>
            <a:chOff x="657225" y="5010150"/>
            <a:chExt cx="4962525" cy="2362200"/>
          </a:xfrm>
        </p:grpSpPr>
        <p:sp>
          <p:nvSpPr>
            <p:cNvPr id="16" name="object 16"/>
            <p:cNvSpPr/>
            <p:nvPr/>
          </p:nvSpPr>
          <p:spPr>
            <a:xfrm>
              <a:off x="657225" y="5010150"/>
              <a:ext cx="4962525" cy="2362200"/>
            </a:xfrm>
            <a:custGeom>
              <a:avLst/>
              <a:gdLst/>
              <a:ahLst/>
              <a:cxnLst/>
              <a:rect l="l" t="t" r="r" b="b"/>
              <a:pathLst>
                <a:path w="4962525" h="2362200">
                  <a:moveTo>
                    <a:pt x="4942078" y="0"/>
                  </a:moveTo>
                  <a:lnTo>
                    <a:pt x="20449" y="0"/>
                  </a:lnTo>
                  <a:lnTo>
                    <a:pt x="17442" y="596"/>
                  </a:lnTo>
                  <a:lnTo>
                    <a:pt x="0" y="20447"/>
                  </a:lnTo>
                  <a:lnTo>
                    <a:pt x="0" y="2338626"/>
                  </a:lnTo>
                  <a:lnTo>
                    <a:pt x="0" y="2341751"/>
                  </a:lnTo>
                  <a:lnTo>
                    <a:pt x="20449" y="2362196"/>
                  </a:lnTo>
                  <a:lnTo>
                    <a:pt x="4942078" y="2362196"/>
                  </a:lnTo>
                  <a:lnTo>
                    <a:pt x="4962525" y="2341751"/>
                  </a:lnTo>
                  <a:lnTo>
                    <a:pt x="4962525" y="20447"/>
                  </a:lnTo>
                  <a:lnTo>
                    <a:pt x="4945087" y="596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2F3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7725" y="5200650"/>
              <a:ext cx="561975" cy="561975"/>
            </a:xfrm>
            <a:custGeom>
              <a:avLst/>
              <a:gdLst/>
              <a:ahLst/>
              <a:cxnLst/>
              <a:rect l="l" t="t" r="r" b="b"/>
              <a:pathLst>
                <a:path w="561975" h="561975">
                  <a:moveTo>
                    <a:pt x="280987" y="0"/>
                  </a:moveTo>
                  <a:lnTo>
                    <a:pt x="239756" y="3038"/>
                  </a:lnTo>
                  <a:lnTo>
                    <a:pt x="199419" y="12103"/>
                  </a:lnTo>
                  <a:lnTo>
                    <a:pt x="160849" y="26976"/>
                  </a:lnTo>
                  <a:lnTo>
                    <a:pt x="124876" y="47358"/>
                  </a:lnTo>
                  <a:lnTo>
                    <a:pt x="92287" y="72790"/>
                  </a:lnTo>
                  <a:lnTo>
                    <a:pt x="63783" y="102730"/>
                  </a:lnTo>
                  <a:lnTo>
                    <a:pt x="39975" y="136531"/>
                  </a:lnTo>
                  <a:lnTo>
                    <a:pt x="21386" y="173456"/>
                  </a:lnTo>
                  <a:lnTo>
                    <a:pt x="8419" y="212713"/>
                  </a:lnTo>
                  <a:lnTo>
                    <a:pt x="1353" y="253441"/>
                  </a:lnTo>
                  <a:lnTo>
                    <a:pt x="0" y="280987"/>
                  </a:lnTo>
                  <a:lnTo>
                    <a:pt x="84" y="287886"/>
                  </a:lnTo>
                  <a:lnTo>
                    <a:pt x="4135" y="329023"/>
                  </a:lnTo>
                  <a:lnTo>
                    <a:pt x="14181" y="369126"/>
                  </a:lnTo>
                  <a:lnTo>
                    <a:pt x="30000" y="407313"/>
                  </a:lnTo>
                  <a:lnTo>
                    <a:pt x="51258" y="442781"/>
                  </a:lnTo>
                  <a:lnTo>
                    <a:pt x="77480" y="474737"/>
                  </a:lnTo>
                  <a:lnTo>
                    <a:pt x="108116" y="502506"/>
                  </a:lnTo>
                  <a:lnTo>
                    <a:pt x="142487" y="525468"/>
                  </a:lnTo>
                  <a:lnTo>
                    <a:pt x="179864" y="543147"/>
                  </a:lnTo>
                  <a:lnTo>
                    <a:pt x="219420" y="555143"/>
                  </a:lnTo>
                  <a:lnTo>
                    <a:pt x="260317" y="561214"/>
                  </a:lnTo>
                  <a:lnTo>
                    <a:pt x="280987" y="561975"/>
                  </a:lnTo>
                  <a:lnTo>
                    <a:pt x="287885" y="561891"/>
                  </a:lnTo>
                  <a:lnTo>
                    <a:pt x="329025" y="557837"/>
                  </a:lnTo>
                  <a:lnTo>
                    <a:pt x="369130" y="547790"/>
                  </a:lnTo>
                  <a:lnTo>
                    <a:pt x="407321" y="531969"/>
                  </a:lnTo>
                  <a:lnTo>
                    <a:pt x="442787" y="510713"/>
                  </a:lnTo>
                  <a:lnTo>
                    <a:pt x="474737" y="484493"/>
                  </a:lnTo>
                  <a:lnTo>
                    <a:pt x="502508" y="453858"/>
                  </a:lnTo>
                  <a:lnTo>
                    <a:pt x="525473" y="419481"/>
                  </a:lnTo>
                  <a:lnTo>
                    <a:pt x="543147" y="382110"/>
                  </a:lnTo>
                  <a:lnTo>
                    <a:pt x="555151" y="342551"/>
                  </a:lnTo>
                  <a:lnTo>
                    <a:pt x="561208" y="301650"/>
                  </a:lnTo>
                  <a:lnTo>
                    <a:pt x="561975" y="280987"/>
                  </a:lnTo>
                  <a:lnTo>
                    <a:pt x="561889" y="274086"/>
                  </a:lnTo>
                  <a:lnTo>
                    <a:pt x="557837" y="232951"/>
                  </a:lnTo>
                  <a:lnTo>
                    <a:pt x="547790" y="192841"/>
                  </a:lnTo>
                  <a:lnTo>
                    <a:pt x="531976" y="154650"/>
                  </a:lnTo>
                  <a:lnTo>
                    <a:pt x="510718" y="119193"/>
                  </a:lnTo>
                  <a:lnTo>
                    <a:pt x="484493" y="87237"/>
                  </a:lnTo>
                  <a:lnTo>
                    <a:pt x="453860" y="59472"/>
                  </a:lnTo>
                  <a:lnTo>
                    <a:pt x="419487" y="36506"/>
                  </a:lnTo>
                  <a:lnTo>
                    <a:pt x="382110" y="18827"/>
                  </a:lnTo>
                  <a:lnTo>
                    <a:pt x="342554" y="6823"/>
                  </a:lnTo>
                  <a:lnTo>
                    <a:pt x="301658" y="760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1934" y="5353049"/>
              <a:ext cx="191135" cy="254635"/>
            </a:xfrm>
            <a:custGeom>
              <a:avLst/>
              <a:gdLst/>
              <a:ahLst/>
              <a:cxnLst/>
              <a:rect l="l" t="t" r="r" b="b"/>
              <a:pathLst>
                <a:path w="191134" h="254635">
                  <a:moveTo>
                    <a:pt x="51300" y="39763"/>
                  </a:moveTo>
                  <a:lnTo>
                    <a:pt x="31814" y="39763"/>
                  </a:lnTo>
                  <a:lnTo>
                    <a:pt x="19440" y="42266"/>
                  </a:lnTo>
                  <a:lnTo>
                    <a:pt x="9327" y="49088"/>
                  </a:lnTo>
                  <a:lnTo>
                    <a:pt x="2503" y="59201"/>
                  </a:lnTo>
                  <a:lnTo>
                    <a:pt x="0" y="71577"/>
                  </a:lnTo>
                  <a:lnTo>
                    <a:pt x="0" y="222681"/>
                  </a:lnTo>
                  <a:lnTo>
                    <a:pt x="2503" y="235057"/>
                  </a:lnTo>
                  <a:lnTo>
                    <a:pt x="9327" y="245170"/>
                  </a:lnTo>
                  <a:lnTo>
                    <a:pt x="19440" y="251992"/>
                  </a:lnTo>
                  <a:lnTo>
                    <a:pt x="31814" y="254495"/>
                  </a:lnTo>
                  <a:lnTo>
                    <a:pt x="159062" y="254495"/>
                  </a:lnTo>
                  <a:lnTo>
                    <a:pt x="171435" y="251992"/>
                  </a:lnTo>
                  <a:lnTo>
                    <a:pt x="181547" y="245170"/>
                  </a:lnTo>
                  <a:lnTo>
                    <a:pt x="185991" y="238582"/>
                  </a:lnTo>
                  <a:lnTo>
                    <a:pt x="23018" y="238582"/>
                  </a:lnTo>
                  <a:lnTo>
                    <a:pt x="15909" y="231482"/>
                  </a:lnTo>
                  <a:lnTo>
                    <a:pt x="15909" y="62776"/>
                  </a:lnTo>
                  <a:lnTo>
                    <a:pt x="23018" y="55676"/>
                  </a:lnTo>
                  <a:lnTo>
                    <a:pt x="47718" y="55676"/>
                  </a:lnTo>
                  <a:lnTo>
                    <a:pt x="47718" y="43345"/>
                  </a:lnTo>
                  <a:lnTo>
                    <a:pt x="51300" y="39763"/>
                  </a:lnTo>
                  <a:close/>
                </a:path>
                <a:path w="191134" h="254635">
                  <a:moveTo>
                    <a:pt x="185991" y="55676"/>
                  </a:moveTo>
                  <a:lnTo>
                    <a:pt x="167858" y="55676"/>
                  </a:lnTo>
                  <a:lnTo>
                    <a:pt x="174966" y="62776"/>
                  </a:lnTo>
                  <a:lnTo>
                    <a:pt x="174966" y="231482"/>
                  </a:lnTo>
                  <a:lnTo>
                    <a:pt x="167858" y="238582"/>
                  </a:lnTo>
                  <a:lnTo>
                    <a:pt x="185991" y="238582"/>
                  </a:lnTo>
                  <a:lnTo>
                    <a:pt x="188369" y="235057"/>
                  </a:lnTo>
                  <a:lnTo>
                    <a:pt x="190872" y="222681"/>
                  </a:lnTo>
                  <a:lnTo>
                    <a:pt x="190872" y="71577"/>
                  </a:lnTo>
                  <a:lnTo>
                    <a:pt x="188369" y="59201"/>
                  </a:lnTo>
                  <a:lnTo>
                    <a:pt x="185991" y="55676"/>
                  </a:lnTo>
                  <a:close/>
                </a:path>
                <a:path w="191134" h="254635">
                  <a:moveTo>
                    <a:pt x="47718" y="55676"/>
                  </a:moveTo>
                  <a:lnTo>
                    <a:pt x="31814" y="55676"/>
                  </a:lnTo>
                  <a:lnTo>
                    <a:pt x="31814" y="72415"/>
                  </a:lnTo>
                  <a:lnTo>
                    <a:pt x="38922" y="79527"/>
                  </a:lnTo>
                  <a:lnTo>
                    <a:pt x="151952" y="79527"/>
                  </a:lnTo>
                  <a:lnTo>
                    <a:pt x="159062" y="72415"/>
                  </a:lnTo>
                  <a:lnTo>
                    <a:pt x="159062" y="63627"/>
                  </a:lnTo>
                  <a:lnTo>
                    <a:pt x="47718" y="63627"/>
                  </a:lnTo>
                  <a:lnTo>
                    <a:pt x="47718" y="55676"/>
                  </a:lnTo>
                  <a:close/>
                </a:path>
                <a:path w="191134" h="254635">
                  <a:moveTo>
                    <a:pt x="159062" y="39763"/>
                  </a:moveTo>
                  <a:lnTo>
                    <a:pt x="139575" y="39763"/>
                  </a:lnTo>
                  <a:lnTo>
                    <a:pt x="143158" y="43345"/>
                  </a:lnTo>
                  <a:lnTo>
                    <a:pt x="143158" y="63627"/>
                  </a:lnTo>
                  <a:lnTo>
                    <a:pt x="159062" y="63627"/>
                  </a:lnTo>
                  <a:lnTo>
                    <a:pt x="159062" y="55676"/>
                  </a:lnTo>
                  <a:lnTo>
                    <a:pt x="185991" y="55676"/>
                  </a:lnTo>
                  <a:lnTo>
                    <a:pt x="181547" y="49088"/>
                  </a:lnTo>
                  <a:lnTo>
                    <a:pt x="171435" y="42266"/>
                  </a:lnTo>
                  <a:lnTo>
                    <a:pt x="159062" y="39763"/>
                  </a:lnTo>
                  <a:close/>
                </a:path>
                <a:path w="191134" h="254635">
                  <a:moveTo>
                    <a:pt x="97636" y="31813"/>
                  </a:moveTo>
                  <a:lnTo>
                    <a:pt x="93240" y="31813"/>
                  </a:lnTo>
                  <a:lnTo>
                    <a:pt x="91365" y="32588"/>
                  </a:lnTo>
                  <a:lnTo>
                    <a:pt x="88259" y="35699"/>
                  </a:lnTo>
                  <a:lnTo>
                    <a:pt x="87586" y="37325"/>
                  </a:lnTo>
                  <a:lnTo>
                    <a:pt x="87612" y="42266"/>
                  </a:lnTo>
                  <a:lnTo>
                    <a:pt x="88259" y="43840"/>
                  </a:lnTo>
                  <a:lnTo>
                    <a:pt x="91365" y="46939"/>
                  </a:lnTo>
                  <a:lnTo>
                    <a:pt x="93240" y="47713"/>
                  </a:lnTo>
                  <a:lnTo>
                    <a:pt x="97636" y="47713"/>
                  </a:lnTo>
                  <a:lnTo>
                    <a:pt x="99510" y="46939"/>
                  </a:lnTo>
                  <a:lnTo>
                    <a:pt x="102617" y="43840"/>
                  </a:lnTo>
                  <a:lnTo>
                    <a:pt x="103264" y="42266"/>
                  </a:lnTo>
                  <a:lnTo>
                    <a:pt x="103290" y="37325"/>
                  </a:lnTo>
                  <a:lnTo>
                    <a:pt x="102617" y="35699"/>
                  </a:lnTo>
                  <a:lnTo>
                    <a:pt x="99510" y="32588"/>
                  </a:lnTo>
                  <a:lnTo>
                    <a:pt x="97636" y="31813"/>
                  </a:lnTo>
                  <a:close/>
                </a:path>
                <a:path w="191134" h="254635">
                  <a:moveTo>
                    <a:pt x="95437" y="0"/>
                  </a:moveTo>
                  <a:lnTo>
                    <a:pt x="83727" y="1756"/>
                  </a:lnTo>
                  <a:lnTo>
                    <a:pt x="73400" y="6673"/>
                  </a:lnTo>
                  <a:lnTo>
                    <a:pt x="64983" y="14219"/>
                  </a:lnTo>
                  <a:lnTo>
                    <a:pt x="59005" y="23863"/>
                  </a:lnTo>
                  <a:lnTo>
                    <a:pt x="55671" y="23863"/>
                  </a:lnTo>
                  <a:lnTo>
                    <a:pt x="48232" y="25047"/>
                  </a:lnTo>
                  <a:lnTo>
                    <a:pt x="41749" y="28346"/>
                  </a:lnTo>
                  <a:lnTo>
                    <a:pt x="36598" y="33378"/>
                  </a:lnTo>
                  <a:lnTo>
                    <a:pt x="33158" y="39763"/>
                  </a:lnTo>
                  <a:lnTo>
                    <a:pt x="68247" y="39763"/>
                  </a:lnTo>
                  <a:lnTo>
                    <a:pt x="71432" y="37325"/>
                  </a:lnTo>
                  <a:lnTo>
                    <a:pt x="72325" y="33794"/>
                  </a:lnTo>
                  <a:lnTo>
                    <a:pt x="75489" y="26658"/>
                  </a:lnTo>
                  <a:lnTo>
                    <a:pt x="80713" y="20989"/>
                  </a:lnTo>
                  <a:lnTo>
                    <a:pt x="87521" y="17249"/>
                  </a:lnTo>
                  <a:lnTo>
                    <a:pt x="95437" y="15900"/>
                  </a:lnTo>
                  <a:lnTo>
                    <a:pt x="126934" y="15900"/>
                  </a:lnTo>
                  <a:lnTo>
                    <a:pt x="125892" y="14219"/>
                  </a:lnTo>
                  <a:lnTo>
                    <a:pt x="117475" y="6673"/>
                  </a:lnTo>
                  <a:lnTo>
                    <a:pt x="107148" y="1756"/>
                  </a:lnTo>
                  <a:lnTo>
                    <a:pt x="95437" y="0"/>
                  </a:lnTo>
                  <a:close/>
                </a:path>
                <a:path w="191134" h="254635">
                  <a:moveTo>
                    <a:pt x="126934" y="15900"/>
                  </a:moveTo>
                  <a:lnTo>
                    <a:pt x="95437" y="15900"/>
                  </a:lnTo>
                  <a:lnTo>
                    <a:pt x="103375" y="17249"/>
                  </a:lnTo>
                  <a:lnTo>
                    <a:pt x="110181" y="20989"/>
                  </a:lnTo>
                  <a:lnTo>
                    <a:pt x="115394" y="26658"/>
                  </a:lnTo>
                  <a:lnTo>
                    <a:pt x="118551" y="33794"/>
                  </a:lnTo>
                  <a:lnTo>
                    <a:pt x="119444" y="37325"/>
                  </a:lnTo>
                  <a:lnTo>
                    <a:pt x="122628" y="39763"/>
                  </a:lnTo>
                  <a:lnTo>
                    <a:pt x="157717" y="39763"/>
                  </a:lnTo>
                  <a:lnTo>
                    <a:pt x="154277" y="33378"/>
                  </a:lnTo>
                  <a:lnTo>
                    <a:pt x="149127" y="28346"/>
                  </a:lnTo>
                  <a:lnTo>
                    <a:pt x="142644" y="25047"/>
                  </a:lnTo>
                  <a:lnTo>
                    <a:pt x="135205" y="23863"/>
                  </a:lnTo>
                  <a:lnTo>
                    <a:pt x="131871" y="23863"/>
                  </a:lnTo>
                  <a:lnTo>
                    <a:pt x="126934" y="15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35917" y="5787192"/>
            <a:ext cx="4560570" cy="10737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Complete</a:t>
            </a:r>
            <a:r>
              <a:rPr sz="1650" b="1" spc="-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 Trail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Every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logged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automatically.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Google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Sheets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integration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ensures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100%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full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traceability.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10250" y="5010150"/>
            <a:ext cx="4962525" cy="2362200"/>
            <a:chOff x="5810250" y="5010150"/>
            <a:chExt cx="4962525" cy="2362200"/>
          </a:xfrm>
        </p:grpSpPr>
        <p:sp>
          <p:nvSpPr>
            <p:cNvPr id="21" name="object 21"/>
            <p:cNvSpPr/>
            <p:nvPr/>
          </p:nvSpPr>
          <p:spPr>
            <a:xfrm>
              <a:off x="5810250" y="5010150"/>
              <a:ext cx="4962525" cy="2362200"/>
            </a:xfrm>
            <a:custGeom>
              <a:avLst/>
              <a:gdLst/>
              <a:ahLst/>
              <a:cxnLst/>
              <a:rect l="l" t="t" r="r" b="b"/>
              <a:pathLst>
                <a:path w="4962525" h="2362200">
                  <a:moveTo>
                    <a:pt x="4942078" y="0"/>
                  </a:moveTo>
                  <a:lnTo>
                    <a:pt x="20447" y="0"/>
                  </a:lnTo>
                  <a:lnTo>
                    <a:pt x="17437" y="596"/>
                  </a:lnTo>
                  <a:lnTo>
                    <a:pt x="0" y="20447"/>
                  </a:lnTo>
                  <a:lnTo>
                    <a:pt x="0" y="2338626"/>
                  </a:lnTo>
                  <a:lnTo>
                    <a:pt x="0" y="2341751"/>
                  </a:lnTo>
                  <a:lnTo>
                    <a:pt x="20447" y="2362196"/>
                  </a:lnTo>
                  <a:lnTo>
                    <a:pt x="4942078" y="2362196"/>
                  </a:lnTo>
                  <a:lnTo>
                    <a:pt x="4962525" y="2341751"/>
                  </a:lnTo>
                  <a:lnTo>
                    <a:pt x="4962525" y="20447"/>
                  </a:lnTo>
                  <a:lnTo>
                    <a:pt x="4945087" y="596"/>
                  </a:lnTo>
                  <a:lnTo>
                    <a:pt x="4942078" y="0"/>
                  </a:lnTo>
                  <a:close/>
                </a:path>
              </a:pathLst>
            </a:custGeom>
            <a:solidFill>
              <a:srgbClr val="2F3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00750" y="5200650"/>
              <a:ext cx="561975" cy="561975"/>
            </a:xfrm>
            <a:custGeom>
              <a:avLst/>
              <a:gdLst/>
              <a:ahLst/>
              <a:cxnLst/>
              <a:rect l="l" t="t" r="r" b="b"/>
              <a:pathLst>
                <a:path w="561975" h="561975">
                  <a:moveTo>
                    <a:pt x="280987" y="0"/>
                  </a:moveTo>
                  <a:lnTo>
                    <a:pt x="239755" y="3038"/>
                  </a:lnTo>
                  <a:lnTo>
                    <a:pt x="199415" y="12103"/>
                  </a:lnTo>
                  <a:lnTo>
                    <a:pt x="160848" y="26976"/>
                  </a:lnTo>
                  <a:lnTo>
                    <a:pt x="124879" y="47358"/>
                  </a:lnTo>
                  <a:lnTo>
                    <a:pt x="92289" y="72790"/>
                  </a:lnTo>
                  <a:lnTo>
                    <a:pt x="63779" y="102730"/>
                  </a:lnTo>
                  <a:lnTo>
                    <a:pt x="39976" y="136531"/>
                  </a:lnTo>
                  <a:lnTo>
                    <a:pt x="21386" y="173456"/>
                  </a:lnTo>
                  <a:lnTo>
                    <a:pt x="8416" y="212713"/>
                  </a:lnTo>
                  <a:lnTo>
                    <a:pt x="1358" y="253441"/>
                  </a:lnTo>
                  <a:lnTo>
                    <a:pt x="0" y="280987"/>
                  </a:lnTo>
                  <a:lnTo>
                    <a:pt x="85" y="287886"/>
                  </a:lnTo>
                  <a:lnTo>
                    <a:pt x="4137" y="329023"/>
                  </a:lnTo>
                  <a:lnTo>
                    <a:pt x="14184" y="369126"/>
                  </a:lnTo>
                  <a:lnTo>
                    <a:pt x="30003" y="407313"/>
                  </a:lnTo>
                  <a:lnTo>
                    <a:pt x="51258" y="442781"/>
                  </a:lnTo>
                  <a:lnTo>
                    <a:pt x="77481" y="474737"/>
                  </a:lnTo>
                  <a:lnTo>
                    <a:pt x="108114" y="502506"/>
                  </a:lnTo>
                  <a:lnTo>
                    <a:pt x="142484" y="525468"/>
                  </a:lnTo>
                  <a:lnTo>
                    <a:pt x="179864" y="543147"/>
                  </a:lnTo>
                  <a:lnTo>
                    <a:pt x="219423" y="555143"/>
                  </a:lnTo>
                  <a:lnTo>
                    <a:pt x="260318" y="561214"/>
                  </a:lnTo>
                  <a:lnTo>
                    <a:pt x="280987" y="561975"/>
                  </a:lnTo>
                  <a:lnTo>
                    <a:pt x="287888" y="561891"/>
                  </a:lnTo>
                  <a:lnTo>
                    <a:pt x="329018" y="557837"/>
                  </a:lnTo>
                  <a:lnTo>
                    <a:pt x="369132" y="547790"/>
                  </a:lnTo>
                  <a:lnTo>
                    <a:pt x="407324" y="531969"/>
                  </a:lnTo>
                  <a:lnTo>
                    <a:pt x="442787" y="510713"/>
                  </a:lnTo>
                  <a:lnTo>
                    <a:pt x="474737" y="484493"/>
                  </a:lnTo>
                  <a:lnTo>
                    <a:pt x="502508" y="453858"/>
                  </a:lnTo>
                  <a:lnTo>
                    <a:pt x="525473" y="419481"/>
                  </a:lnTo>
                  <a:lnTo>
                    <a:pt x="543147" y="382110"/>
                  </a:lnTo>
                  <a:lnTo>
                    <a:pt x="555149" y="342551"/>
                  </a:lnTo>
                  <a:lnTo>
                    <a:pt x="561208" y="301650"/>
                  </a:lnTo>
                  <a:lnTo>
                    <a:pt x="561975" y="280987"/>
                  </a:lnTo>
                  <a:lnTo>
                    <a:pt x="561889" y="274086"/>
                  </a:lnTo>
                  <a:lnTo>
                    <a:pt x="557837" y="232951"/>
                  </a:lnTo>
                  <a:lnTo>
                    <a:pt x="547790" y="192841"/>
                  </a:lnTo>
                  <a:lnTo>
                    <a:pt x="531976" y="154650"/>
                  </a:lnTo>
                  <a:lnTo>
                    <a:pt x="510718" y="119193"/>
                  </a:lnTo>
                  <a:lnTo>
                    <a:pt x="484493" y="87237"/>
                  </a:lnTo>
                  <a:lnTo>
                    <a:pt x="453860" y="59472"/>
                  </a:lnTo>
                  <a:lnTo>
                    <a:pt x="419490" y="36506"/>
                  </a:lnTo>
                  <a:lnTo>
                    <a:pt x="382110" y="18827"/>
                  </a:lnTo>
                  <a:lnTo>
                    <a:pt x="342551" y="6823"/>
                  </a:lnTo>
                  <a:lnTo>
                    <a:pt x="301661" y="760"/>
                  </a:lnTo>
                  <a:lnTo>
                    <a:pt x="280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7686" y="5353049"/>
              <a:ext cx="146050" cy="254635"/>
            </a:xfrm>
            <a:custGeom>
              <a:avLst/>
              <a:gdLst/>
              <a:ahLst/>
              <a:cxnLst/>
              <a:rect l="l" t="t" r="r" b="b"/>
              <a:pathLst>
                <a:path w="146050" h="254635">
                  <a:moveTo>
                    <a:pt x="76400" y="0"/>
                  </a:moveTo>
                  <a:lnTo>
                    <a:pt x="69022" y="0"/>
                  </a:lnTo>
                  <a:lnTo>
                    <a:pt x="65466" y="711"/>
                  </a:lnTo>
                  <a:lnTo>
                    <a:pt x="44879" y="24142"/>
                  </a:lnTo>
                  <a:lnTo>
                    <a:pt x="44879" y="31521"/>
                  </a:lnTo>
                  <a:lnTo>
                    <a:pt x="69022" y="55676"/>
                  </a:lnTo>
                  <a:lnTo>
                    <a:pt x="76400" y="55676"/>
                  </a:lnTo>
                  <a:lnTo>
                    <a:pt x="97898" y="39763"/>
                  </a:lnTo>
                  <a:lnTo>
                    <a:pt x="69415" y="39763"/>
                  </a:lnTo>
                  <a:lnTo>
                    <a:pt x="66609" y="38608"/>
                  </a:lnTo>
                  <a:lnTo>
                    <a:pt x="61948" y="33934"/>
                  </a:lnTo>
                  <a:lnTo>
                    <a:pt x="60779" y="31127"/>
                  </a:lnTo>
                  <a:lnTo>
                    <a:pt x="60779" y="24536"/>
                  </a:lnTo>
                  <a:lnTo>
                    <a:pt x="61948" y="21729"/>
                  </a:lnTo>
                  <a:lnTo>
                    <a:pt x="66609" y="17068"/>
                  </a:lnTo>
                  <a:lnTo>
                    <a:pt x="69415" y="15900"/>
                  </a:lnTo>
                  <a:lnTo>
                    <a:pt x="97897" y="15900"/>
                  </a:lnTo>
                  <a:lnTo>
                    <a:pt x="97012" y="13766"/>
                  </a:lnTo>
                  <a:lnTo>
                    <a:pt x="95006" y="10756"/>
                  </a:lnTo>
                  <a:lnTo>
                    <a:pt x="89786" y="5537"/>
                  </a:lnTo>
                  <a:lnTo>
                    <a:pt x="86776" y="3530"/>
                  </a:lnTo>
                  <a:lnTo>
                    <a:pt x="79956" y="711"/>
                  </a:lnTo>
                  <a:lnTo>
                    <a:pt x="76400" y="0"/>
                  </a:lnTo>
                  <a:close/>
                </a:path>
                <a:path w="146050" h="254635">
                  <a:moveTo>
                    <a:pt x="97897" y="15900"/>
                  </a:moveTo>
                  <a:lnTo>
                    <a:pt x="76007" y="15900"/>
                  </a:lnTo>
                  <a:lnTo>
                    <a:pt x="78813" y="17068"/>
                  </a:lnTo>
                  <a:lnTo>
                    <a:pt x="83474" y="21729"/>
                  </a:lnTo>
                  <a:lnTo>
                    <a:pt x="84643" y="24536"/>
                  </a:lnTo>
                  <a:lnTo>
                    <a:pt x="84643" y="31127"/>
                  </a:lnTo>
                  <a:lnTo>
                    <a:pt x="83474" y="33934"/>
                  </a:lnTo>
                  <a:lnTo>
                    <a:pt x="78813" y="38608"/>
                  </a:lnTo>
                  <a:lnTo>
                    <a:pt x="76007" y="39763"/>
                  </a:lnTo>
                  <a:lnTo>
                    <a:pt x="97898" y="39763"/>
                  </a:lnTo>
                  <a:lnTo>
                    <a:pt x="99844" y="35077"/>
                  </a:lnTo>
                  <a:lnTo>
                    <a:pt x="100543" y="31521"/>
                  </a:lnTo>
                  <a:lnTo>
                    <a:pt x="100543" y="24142"/>
                  </a:lnTo>
                  <a:lnTo>
                    <a:pt x="99844" y="20599"/>
                  </a:lnTo>
                  <a:lnTo>
                    <a:pt x="97897" y="15900"/>
                  </a:lnTo>
                  <a:close/>
                </a:path>
                <a:path w="146050" h="254635">
                  <a:moveTo>
                    <a:pt x="56804" y="100507"/>
                  </a:moveTo>
                  <a:lnTo>
                    <a:pt x="40891" y="100507"/>
                  </a:lnTo>
                  <a:lnTo>
                    <a:pt x="40891" y="250913"/>
                  </a:lnTo>
                  <a:lnTo>
                    <a:pt x="44472" y="254495"/>
                  </a:lnTo>
                  <a:lnTo>
                    <a:pt x="53223" y="254495"/>
                  </a:lnTo>
                  <a:lnTo>
                    <a:pt x="56804" y="250913"/>
                  </a:lnTo>
                  <a:lnTo>
                    <a:pt x="56804" y="174967"/>
                  </a:lnTo>
                  <a:lnTo>
                    <a:pt x="104518" y="174967"/>
                  </a:lnTo>
                  <a:lnTo>
                    <a:pt x="104518" y="159054"/>
                  </a:lnTo>
                  <a:lnTo>
                    <a:pt x="56804" y="159054"/>
                  </a:lnTo>
                  <a:lnTo>
                    <a:pt x="56804" y="100507"/>
                  </a:lnTo>
                  <a:close/>
                </a:path>
                <a:path w="146050" h="254635">
                  <a:moveTo>
                    <a:pt x="104518" y="174967"/>
                  </a:moveTo>
                  <a:lnTo>
                    <a:pt x="88618" y="174967"/>
                  </a:lnTo>
                  <a:lnTo>
                    <a:pt x="88618" y="250913"/>
                  </a:lnTo>
                  <a:lnTo>
                    <a:pt x="92199" y="254495"/>
                  </a:lnTo>
                  <a:lnTo>
                    <a:pt x="100949" y="254495"/>
                  </a:lnTo>
                  <a:lnTo>
                    <a:pt x="104518" y="250913"/>
                  </a:lnTo>
                  <a:lnTo>
                    <a:pt x="104518" y="174967"/>
                  </a:lnTo>
                  <a:close/>
                </a:path>
                <a:path w="146050" h="254635">
                  <a:moveTo>
                    <a:pt x="110406" y="79527"/>
                  </a:moveTo>
                  <a:lnTo>
                    <a:pt x="82407" y="79527"/>
                  </a:lnTo>
                  <a:lnTo>
                    <a:pt x="85633" y="80225"/>
                  </a:lnTo>
                  <a:lnTo>
                    <a:pt x="88618" y="81521"/>
                  </a:lnTo>
                  <a:lnTo>
                    <a:pt x="88618" y="159054"/>
                  </a:lnTo>
                  <a:lnTo>
                    <a:pt x="104518" y="159054"/>
                  </a:lnTo>
                  <a:lnTo>
                    <a:pt x="104518" y="100507"/>
                  </a:lnTo>
                  <a:lnTo>
                    <a:pt x="122582" y="100507"/>
                  </a:lnTo>
                  <a:lnTo>
                    <a:pt x="114119" y="84645"/>
                  </a:lnTo>
                  <a:lnTo>
                    <a:pt x="110406" y="79527"/>
                  </a:lnTo>
                  <a:close/>
                </a:path>
                <a:path w="146050" h="254635">
                  <a:moveTo>
                    <a:pt x="79016" y="63627"/>
                  </a:moveTo>
                  <a:lnTo>
                    <a:pt x="66393" y="63627"/>
                  </a:lnTo>
                  <a:lnTo>
                    <a:pt x="55677" y="65094"/>
                  </a:lnTo>
                  <a:lnTo>
                    <a:pt x="2002" y="139420"/>
                  </a:lnTo>
                  <a:lnTo>
                    <a:pt x="0" y="143306"/>
                  </a:lnTo>
                  <a:lnTo>
                    <a:pt x="1432" y="148120"/>
                  </a:lnTo>
                  <a:lnTo>
                    <a:pt x="9385" y="152298"/>
                  </a:lnTo>
                  <a:lnTo>
                    <a:pt x="8851" y="152298"/>
                  </a:lnTo>
                  <a:lnTo>
                    <a:pt x="13835" y="150812"/>
                  </a:lnTo>
                  <a:lnTo>
                    <a:pt x="13978" y="150812"/>
                  </a:lnTo>
                  <a:lnTo>
                    <a:pt x="16073" y="146926"/>
                  </a:lnTo>
                  <a:lnTo>
                    <a:pt x="40864" y="100507"/>
                  </a:lnTo>
                  <a:lnTo>
                    <a:pt x="56804" y="100507"/>
                  </a:lnTo>
                  <a:lnTo>
                    <a:pt x="56804" y="81521"/>
                  </a:lnTo>
                  <a:lnTo>
                    <a:pt x="59789" y="80225"/>
                  </a:lnTo>
                  <a:lnTo>
                    <a:pt x="63014" y="79527"/>
                  </a:lnTo>
                  <a:lnTo>
                    <a:pt x="110406" y="79527"/>
                  </a:lnTo>
                  <a:lnTo>
                    <a:pt x="107783" y="75912"/>
                  </a:lnTo>
                  <a:lnTo>
                    <a:pt x="99478" y="69292"/>
                  </a:lnTo>
                  <a:lnTo>
                    <a:pt x="89718" y="65094"/>
                  </a:lnTo>
                  <a:lnTo>
                    <a:pt x="79016" y="63627"/>
                  </a:lnTo>
                  <a:close/>
                </a:path>
                <a:path w="146050" h="254635">
                  <a:moveTo>
                    <a:pt x="122582" y="100507"/>
                  </a:moveTo>
                  <a:lnTo>
                    <a:pt x="104518" y="100507"/>
                  </a:lnTo>
                  <a:lnTo>
                    <a:pt x="129270" y="146926"/>
                  </a:lnTo>
                  <a:lnTo>
                    <a:pt x="131366" y="150812"/>
                  </a:lnTo>
                  <a:lnTo>
                    <a:pt x="136192" y="152298"/>
                  </a:lnTo>
                  <a:lnTo>
                    <a:pt x="143939" y="148120"/>
                  </a:lnTo>
                  <a:lnTo>
                    <a:pt x="145437" y="143306"/>
                  </a:lnTo>
                  <a:lnTo>
                    <a:pt x="143342" y="139420"/>
                  </a:lnTo>
                  <a:lnTo>
                    <a:pt x="122582" y="1005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985078" y="5787192"/>
            <a:ext cx="4478655" cy="13500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spc="60" dirty="0">
                <a:solidFill>
                  <a:srgbClr val="E2E6E9"/>
                </a:solidFill>
                <a:latin typeface="Tahoma"/>
                <a:cs typeface="Tahoma"/>
              </a:rPr>
              <a:t>Human-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in-the-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Loop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7200"/>
              </a:lnSpc>
              <a:spcBef>
                <a:spcPts val="595"/>
              </a:spcBef>
            </a:pP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High-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risk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cases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escalate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managers.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Smart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automation, not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autonomous4keeping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humans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in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control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of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critical decisions.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382000"/>
          </a:xfrm>
          <a:custGeom>
            <a:avLst/>
            <a:gdLst/>
            <a:ahLst/>
            <a:cxnLst/>
            <a:rect l="l" t="t" r="r" b="b"/>
            <a:pathLst>
              <a:path w="11430000" h="8382000">
                <a:moveTo>
                  <a:pt x="11430000" y="0"/>
                </a:moveTo>
                <a:lnTo>
                  <a:pt x="0" y="0"/>
                </a:lnTo>
                <a:lnTo>
                  <a:pt x="0" y="8382000"/>
                </a:lnTo>
                <a:lnTo>
                  <a:pt x="11430000" y="8382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90" dirty="0"/>
              <a:t>The</a:t>
            </a:r>
            <a:r>
              <a:rPr spc="-65" dirty="0"/>
              <a:t> </a:t>
            </a:r>
            <a:r>
              <a:rPr spc="-220" dirty="0"/>
              <a:t>5-</a:t>
            </a:r>
            <a:r>
              <a:rPr spc="65" dirty="0"/>
              <a:t>Step</a:t>
            </a:r>
            <a:r>
              <a:rPr spc="-65" dirty="0"/>
              <a:t> </a:t>
            </a:r>
            <a:r>
              <a:rPr dirty="0"/>
              <a:t>Intelligent</a:t>
            </a:r>
            <a:r>
              <a:rPr spc="-65" dirty="0"/>
              <a:t> </a:t>
            </a:r>
            <a:r>
              <a:rPr spc="70" dirty="0"/>
              <a:t>Workflow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2209800"/>
            <a:ext cx="942975" cy="56559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7353" y="1358499"/>
            <a:ext cx="9951720" cy="6188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ReturnGuard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AI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processes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through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sophisticated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engine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combines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automation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oversight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optimal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results.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</a:pP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Intake</a:t>
            </a:r>
            <a:endParaRPr sz="16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  <a:spcBef>
                <a:spcPts val="107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Customer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form,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email,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photo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submission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automatic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order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lookup.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4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</a:pP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Understand</a:t>
            </a:r>
            <a:endParaRPr sz="16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  <a:spcBef>
                <a:spcPts val="1070"/>
              </a:spcBef>
            </a:pP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extraction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vision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analysis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evaluate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claims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against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evidence.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4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</a:pP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Decide</a:t>
            </a:r>
            <a:endParaRPr sz="16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  <a:spcBef>
                <a:spcPts val="1070"/>
              </a:spcBef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Three-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path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logic: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auto-approve,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review,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or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auto-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reject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based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on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intelligent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rules.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4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</a:pP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endParaRPr sz="16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  <a:spcBef>
                <a:spcPts val="1070"/>
              </a:spcBef>
            </a:pP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oversight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high-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risk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cases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only,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manager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approval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workflow.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4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</a:pP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Deliver</a:t>
            </a:r>
            <a:endParaRPr sz="1650">
              <a:latin typeface="Tahoma"/>
              <a:cs typeface="Tahoma"/>
            </a:endParaRPr>
          </a:p>
          <a:p>
            <a:pPr marL="1143635">
              <a:lnSpc>
                <a:spcPct val="100000"/>
              </a:lnSpc>
              <a:spcBef>
                <a:spcPts val="1070"/>
              </a:spcBef>
            </a:pP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logging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Google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Sheets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(email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responses: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production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roadmap)."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838950"/>
          </a:xfrm>
          <a:custGeom>
            <a:avLst/>
            <a:gdLst/>
            <a:ahLst/>
            <a:cxnLst/>
            <a:rect l="l" t="t" r="r" b="b"/>
            <a:pathLst>
              <a:path w="11430000" h="6838950">
                <a:moveTo>
                  <a:pt x="11430000" y="0"/>
                </a:moveTo>
                <a:lnTo>
                  <a:pt x="0" y="0"/>
                </a:lnTo>
                <a:lnTo>
                  <a:pt x="0" y="6838950"/>
                </a:lnTo>
                <a:lnTo>
                  <a:pt x="11430000" y="68389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0" dirty="0"/>
              <a:t>Three</a:t>
            </a:r>
            <a:r>
              <a:rPr spc="-70" dirty="0"/>
              <a:t> </a:t>
            </a:r>
            <a:r>
              <a:rPr dirty="0"/>
              <a:t>Intelligent</a:t>
            </a:r>
            <a:r>
              <a:rPr spc="-65" dirty="0"/>
              <a:t> </a:t>
            </a:r>
            <a:r>
              <a:rPr spc="85" dirty="0"/>
              <a:t>Decision</a:t>
            </a:r>
            <a:r>
              <a:rPr spc="-65" dirty="0"/>
              <a:t> </a:t>
            </a:r>
            <a:r>
              <a:rPr spc="75" dirty="0"/>
              <a:t>Paths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7224" y="1924049"/>
            <a:ext cx="3248025" cy="4400550"/>
            <a:chOff x="657224" y="1924049"/>
            <a:chExt cx="3248025" cy="4400550"/>
          </a:xfrm>
        </p:grpSpPr>
        <p:sp>
          <p:nvSpPr>
            <p:cNvPr id="5" name="object 5"/>
            <p:cNvSpPr/>
            <p:nvPr/>
          </p:nvSpPr>
          <p:spPr>
            <a:xfrm>
              <a:off x="666750" y="2209799"/>
              <a:ext cx="3228975" cy="4105275"/>
            </a:xfrm>
            <a:custGeom>
              <a:avLst/>
              <a:gdLst/>
              <a:ahLst/>
              <a:cxnLst/>
              <a:rect l="l" t="t" r="r" b="b"/>
              <a:pathLst>
                <a:path w="3228975" h="4105275">
                  <a:moveTo>
                    <a:pt x="3166681" y="0"/>
                  </a:moveTo>
                  <a:lnTo>
                    <a:pt x="62299" y="0"/>
                  </a:lnTo>
                  <a:lnTo>
                    <a:pt x="57964" y="482"/>
                  </a:lnTo>
                  <a:lnTo>
                    <a:pt x="22622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091227"/>
                  </a:lnTo>
                  <a:lnTo>
                    <a:pt x="0" y="4093088"/>
                  </a:lnTo>
                  <a:lnTo>
                    <a:pt x="12184" y="4105272"/>
                  </a:lnTo>
                  <a:lnTo>
                    <a:pt x="3216783" y="4105272"/>
                  </a:lnTo>
                  <a:lnTo>
                    <a:pt x="3228975" y="4093088"/>
                  </a:lnTo>
                  <a:lnTo>
                    <a:pt x="3228975" y="71196"/>
                  </a:lnTo>
                  <a:lnTo>
                    <a:pt x="3215309" y="29705"/>
                  </a:lnTo>
                  <a:lnTo>
                    <a:pt x="3183775" y="3886"/>
                  </a:lnTo>
                  <a:lnTo>
                    <a:pt x="3171012" y="482"/>
                  </a:lnTo>
                  <a:lnTo>
                    <a:pt x="3166681" y="0"/>
                  </a:lnTo>
                  <a:close/>
                </a:path>
              </a:pathLst>
            </a:custGeom>
            <a:solidFill>
              <a:srgbClr val="10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7212" y="2210650"/>
              <a:ext cx="3248025" cy="4114165"/>
            </a:xfrm>
            <a:custGeom>
              <a:avLst/>
              <a:gdLst/>
              <a:ahLst/>
              <a:cxnLst/>
              <a:rect l="l" t="t" r="r" b="b"/>
              <a:pathLst>
                <a:path w="3248025" h="4114165">
                  <a:moveTo>
                    <a:pt x="3248025" y="75361"/>
                  </a:moveTo>
                  <a:lnTo>
                    <a:pt x="3235198" y="33020"/>
                  </a:lnTo>
                  <a:lnTo>
                    <a:pt x="3200984" y="4965"/>
                  </a:lnTo>
                  <a:lnTo>
                    <a:pt x="3182594" y="0"/>
                  </a:lnTo>
                  <a:lnTo>
                    <a:pt x="3186696" y="1092"/>
                  </a:lnTo>
                  <a:lnTo>
                    <a:pt x="3200692" y="8826"/>
                  </a:lnTo>
                  <a:lnTo>
                    <a:pt x="3224619" y="46202"/>
                  </a:lnTo>
                  <a:lnTo>
                    <a:pt x="3228975" y="75361"/>
                  </a:lnTo>
                  <a:lnTo>
                    <a:pt x="3228975" y="4093400"/>
                  </a:lnTo>
                  <a:lnTo>
                    <a:pt x="3228225" y="4094149"/>
                  </a:lnTo>
                  <a:lnTo>
                    <a:pt x="3227743" y="4094619"/>
                  </a:lnTo>
                  <a:lnTo>
                    <a:pt x="3227463" y="4094899"/>
                  </a:lnTo>
                  <a:lnTo>
                    <a:pt x="20561" y="4094899"/>
                  </a:lnTo>
                  <a:lnTo>
                    <a:pt x="20281" y="4094619"/>
                  </a:lnTo>
                  <a:lnTo>
                    <a:pt x="19812" y="4094149"/>
                  </a:lnTo>
                  <a:lnTo>
                    <a:pt x="19050" y="4093400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096893"/>
                  </a:lnTo>
                  <a:lnTo>
                    <a:pt x="2311" y="4102443"/>
                  </a:lnTo>
                  <a:lnTo>
                    <a:pt x="6908" y="4107053"/>
                  </a:lnTo>
                  <a:lnTo>
                    <a:pt x="11518" y="4111650"/>
                  </a:lnTo>
                  <a:lnTo>
                    <a:pt x="17068" y="4113949"/>
                  </a:lnTo>
                  <a:lnTo>
                    <a:pt x="3230956" y="4113949"/>
                  </a:lnTo>
                  <a:lnTo>
                    <a:pt x="3236518" y="4111650"/>
                  </a:lnTo>
                  <a:lnTo>
                    <a:pt x="3240646" y="4107523"/>
                  </a:lnTo>
                  <a:lnTo>
                    <a:pt x="3240900" y="4107281"/>
                  </a:lnTo>
                  <a:lnTo>
                    <a:pt x="3241129" y="4107053"/>
                  </a:lnTo>
                  <a:lnTo>
                    <a:pt x="3245726" y="4102443"/>
                  </a:lnTo>
                  <a:lnTo>
                    <a:pt x="3248025" y="4096893"/>
                  </a:lnTo>
                  <a:lnTo>
                    <a:pt x="3248025" y="75361"/>
                  </a:lnTo>
                  <a:close/>
                </a:path>
              </a:pathLst>
            </a:custGeom>
            <a:solidFill>
              <a:srgbClr val="494A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7225" y="1924049"/>
              <a:ext cx="3248025" cy="571500"/>
            </a:xfrm>
            <a:custGeom>
              <a:avLst/>
              <a:gdLst/>
              <a:ahLst/>
              <a:cxnLst/>
              <a:rect l="l" t="t" r="r" b="b"/>
              <a:pathLst>
                <a:path w="3248025" h="571500">
                  <a:moveTo>
                    <a:pt x="3248025" y="287147"/>
                  </a:moveTo>
                  <a:lnTo>
                    <a:pt x="3227578" y="266700"/>
                  </a:lnTo>
                  <a:lnTo>
                    <a:pt x="1907527" y="266700"/>
                  </a:lnTo>
                  <a:lnTo>
                    <a:pt x="1907133" y="260324"/>
                  </a:lnTo>
                  <a:lnTo>
                    <a:pt x="1901075" y="219430"/>
                  </a:lnTo>
                  <a:lnTo>
                    <a:pt x="1889074" y="179870"/>
                  </a:lnTo>
                  <a:lnTo>
                    <a:pt x="1871395" y="142494"/>
                  </a:lnTo>
                  <a:lnTo>
                    <a:pt x="1848421" y="108127"/>
                  </a:lnTo>
                  <a:lnTo>
                    <a:pt x="1820659" y="77482"/>
                  </a:lnTo>
                  <a:lnTo>
                    <a:pt x="1788706" y="51257"/>
                  </a:lnTo>
                  <a:lnTo>
                    <a:pt x="1753235" y="30010"/>
                  </a:lnTo>
                  <a:lnTo>
                    <a:pt x="1715058" y="14185"/>
                  </a:lnTo>
                  <a:lnTo>
                    <a:pt x="1674939" y="4140"/>
                  </a:lnTo>
                  <a:lnTo>
                    <a:pt x="1633804" y="88"/>
                  </a:lnTo>
                  <a:lnTo>
                    <a:pt x="1626920" y="0"/>
                  </a:lnTo>
                  <a:lnTo>
                    <a:pt x="1620012" y="88"/>
                  </a:lnTo>
                  <a:lnTo>
                    <a:pt x="1578876" y="4140"/>
                  </a:lnTo>
                  <a:lnTo>
                    <a:pt x="1538770" y="14185"/>
                  </a:lnTo>
                  <a:lnTo>
                    <a:pt x="1500581" y="30010"/>
                  </a:lnTo>
                  <a:lnTo>
                    <a:pt x="1465110" y="51257"/>
                  </a:lnTo>
                  <a:lnTo>
                    <a:pt x="1433156" y="77482"/>
                  </a:lnTo>
                  <a:lnTo>
                    <a:pt x="1405394" y="108127"/>
                  </a:lnTo>
                  <a:lnTo>
                    <a:pt x="1382420" y="142494"/>
                  </a:lnTo>
                  <a:lnTo>
                    <a:pt x="1364754" y="179870"/>
                  </a:lnTo>
                  <a:lnTo>
                    <a:pt x="1352753" y="219430"/>
                  </a:lnTo>
                  <a:lnTo>
                    <a:pt x="1346682" y="260324"/>
                  </a:lnTo>
                  <a:lnTo>
                    <a:pt x="1346288" y="266700"/>
                  </a:lnTo>
                  <a:lnTo>
                    <a:pt x="20447" y="266700"/>
                  </a:lnTo>
                  <a:lnTo>
                    <a:pt x="0" y="287147"/>
                  </a:lnTo>
                  <a:lnTo>
                    <a:pt x="0" y="342900"/>
                  </a:lnTo>
                  <a:lnTo>
                    <a:pt x="1350873" y="342900"/>
                  </a:lnTo>
                  <a:lnTo>
                    <a:pt x="1351330" y="345325"/>
                  </a:lnTo>
                  <a:lnTo>
                    <a:pt x="1362341" y="385178"/>
                  </a:lnTo>
                  <a:lnTo>
                    <a:pt x="1379105" y="422960"/>
                  </a:lnTo>
                  <a:lnTo>
                    <a:pt x="1401216" y="457898"/>
                  </a:lnTo>
                  <a:lnTo>
                    <a:pt x="1428229" y="489204"/>
                  </a:lnTo>
                  <a:lnTo>
                    <a:pt x="1459522" y="516216"/>
                  </a:lnTo>
                  <a:lnTo>
                    <a:pt x="1494459" y="538327"/>
                  </a:lnTo>
                  <a:lnTo>
                    <a:pt x="1532255" y="555078"/>
                  </a:lnTo>
                  <a:lnTo>
                    <a:pt x="1572094" y="566102"/>
                  </a:lnTo>
                  <a:lnTo>
                    <a:pt x="1613128" y="571169"/>
                  </a:lnTo>
                  <a:lnTo>
                    <a:pt x="1626920" y="571500"/>
                  </a:lnTo>
                  <a:lnTo>
                    <a:pt x="1633804" y="571423"/>
                  </a:lnTo>
                  <a:lnTo>
                    <a:pt x="1674939" y="567372"/>
                  </a:lnTo>
                  <a:lnTo>
                    <a:pt x="1715058" y="557326"/>
                  </a:lnTo>
                  <a:lnTo>
                    <a:pt x="1753235" y="541502"/>
                  </a:lnTo>
                  <a:lnTo>
                    <a:pt x="1788706" y="520255"/>
                  </a:lnTo>
                  <a:lnTo>
                    <a:pt x="1820659" y="494030"/>
                  </a:lnTo>
                  <a:lnTo>
                    <a:pt x="1848421" y="463384"/>
                  </a:lnTo>
                  <a:lnTo>
                    <a:pt x="1871395" y="429018"/>
                  </a:lnTo>
                  <a:lnTo>
                    <a:pt x="1889074" y="391642"/>
                  </a:lnTo>
                  <a:lnTo>
                    <a:pt x="1901075" y="352082"/>
                  </a:lnTo>
                  <a:lnTo>
                    <a:pt x="1902955" y="342900"/>
                  </a:lnTo>
                  <a:lnTo>
                    <a:pt x="3248025" y="342900"/>
                  </a:lnTo>
                  <a:lnTo>
                    <a:pt x="3248025" y="287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4539" y="2510591"/>
            <a:ext cx="2735580" cy="328358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Auto-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Approve</a:t>
            </a:r>
            <a:endParaRPr sz="1650">
              <a:latin typeface="Tahoma"/>
              <a:cs typeface="Tahoma"/>
            </a:endParaRPr>
          </a:p>
          <a:p>
            <a:pPr marL="12700" marR="24765">
              <a:lnSpc>
                <a:spcPct val="127899"/>
              </a:lnSpc>
              <a:spcBef>
                <a:spcPts val="585"/>
              </a:spcBef>
            </a:pP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Conditions:</a:t>
            </a: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5" dirty="0">
                <a:solidFill>
                  <a:srgbClr val="E2E6E9"/>
                </a:solidFill>
                <a:latin typeface="Tahoma"/>
                <a:cs typeface="Tahoma"/>
              </a:rPr>
              <a:t>Item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value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under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$75,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severe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damage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confirmed,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within 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90-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day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window,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low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risk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profile.</a:t>
            </a:r>
            <a:endParaRPr sz="1450">
              <a:latin typeface="Tahoma"/>
              <a:cs typeface="Tahoma"/>
            </a:endParaRPr>
          </a:p>
          <a:p>
            <a:pPr marL="12700" marR="5080" indent="-635">
              <a:lnSpc>
                <a:spcPct val="127200"/>
              </a:lnSpc>
              <a:spcBef>
                <a:spcPts val="935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Action:</a:t>
            </a:r>
            <a:r>
              <a:rPr sz="1450" b="1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Instant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approval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in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3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seconds.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Email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sent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automatically.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No</a:t>
            </a:r>
            <a:r>
              <a:rPr sz="1450" spc="-1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time</a:t>
            </a:r>
            <a:r>
              <a:rPr sz="1450" spc="-15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required.</a:t>
            </a:r>
            <a:endParaRPr sz="1450">
              <a:latin typeface="Tahoma"/>
              <a:cs typeface="Tahoma"/>
            </a:endParaRPr>
          </a:p>
          <a:p>
            <a:pPr marL="12700" marR="265430">
              <a:lnSpc>
                <a:spcPct val="129299"/>
              </a:lnSpc>
              <a:spcBef>
                <a:spcPts val="900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Result:</a:t>
            </a:r>
            <a:r>
              <a:rPr sz="1450" b="1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Maximum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efficiency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legitimate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claims.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95749" y="1924049"/>
            <a:ext cx="3238500" cy="4400550"/>
            <a:chOff x="4095749" y="1924049"/>
            <a:chExt cx="3238500" cy="4400550"/>
          </a:xfrm>
        </p:grpSpPr>
        <p:sp>
          <p:nvSpPr>
            <p:cNvPr id="10" name="object 10"/>
            <p:cNvSpPr/>
            <p:nvPr/>
          </p:nvSpPr>
          <p:spPr>
            <a:xfrm>
              <a:off x="4105274" y="2209799"/>
              <a:ext cx="3219450" cy="4105275"/>
            </a:xfrm>
            <a:custGeom>
              <a:avLst/>
              <a:gdLst/>
              <a:ahLst/>
              <a:cxnLst/>
              <a:rect l="l" t="t" r="r" b="b"/>
              <a:pathLst>
                <a:path w="3219450" h="4105275">
                  <a:moveTo>
                    <a:pt x="3157156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091227"/>
                  </a:lnTo>
                  <a:lnTo>
                    <a:pt x="0" y="4093088"/>
                  </a:lnTo>
                  <a:lnTo>
                    <a:pt x="12179" y="4105272"/>
                  </a:lnTo>
                  <a:lnTo>
                    <a:pt x="3207258" y="4105272"/>
                  </a:lnTo>
                  <a:lnTo>
                    <a:pt x="3219450" y="4093088"/>
                  </a:lnTo>
                  <a:lnTo>
                    <a:pt x="3219450" y="71196"/>
                  </a:lnTo>
                  <a:lnTo>
                    <a:pt x="3205784" y="29705"/>
                  </a:lnTo>
                  <a:lnTo>
                    <a:pt x="3174250" y="3886"/>
                  </a:lnTo>
                  <a:lnTo>
                    <a:pt x="3161487" y="482"/>
                  </a:lnTo>
                  <a:lnTo>
                    <a:pt x="3157156" y="0"/>
                  </a:lnTo>
                  <a:close/>
                </a:path>
              </a:pathLst>
            </a:custGeom>
            <a:solidFill>
              <a:srgbClr val="10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95737" y="2210650"/>
              <a:ext cx="3238500" cy="4114165"/>
            </a:xfrm>
            <a:custGeom>
              <a:avLst/>
              <a:gdLst/>
              <a:ahLst/>
              <a:cxnLst/>
              <a:rect l="l" t="t" r="r" b="b"/>
              <a:pathLst>
                <a:path w="3238500" h="4114165">
                  <a:moveTo>
                    <a:pt x="3238500" y="75361"/>
                  </a:moveTo>
                  <a:lnTo>
                    <a:pt x="3225673" y="33020"/>
                  </a:lnTo>
                  <a:lnTo>
                    <a:pt x="3191459" y="4965"/>
                  </a:lnTo>
                  <a:lnTo>
                    <a:pt x="3173057" y="0"/>
                  </a:lnTo>
                  <a:lnTo>
                    <a:pt x="3177171" y="1092"/>
                  </a:lnTo>
                  <a:lnTo>
                    <a:pt x="3191167" y="8826"/>
                  </a:lnTo>
                  <a:lnTo>
                    <a:pt x="3215094" y="46202"/>
                  </a:lnTo>
                  <a:lnTo>
                    <a:pt x="3219450" y="75361"/>
                  </a:lnTo>
                  <a:lnTo>
                    <a:pt x="3219450" y="4093400"/>
                  </a:lnTo>
                  <a:lnTo>
                    <a:pt x="3218700" y="4094149"/>
                  </a:lnTo>
                  <a:lnTo>
                    <a:pt x="3218218" y="4094619"/>
                  </a:lnTo>
                  <a:lnTo>
                    <a:pt x="3217938" y="4094899"/>
                  </a:lnTo>
                  <a:lnTo>
                    <a:pt x="20561" y="4094899"/>
                  </a:lnTo>
                  <a:lnTo>
                    <a:pt x="20281" y="4094619"/>
                  </a:lnTo>
                  <a:lnTo>
                    <a:pt x="19812" y="4094149"/>
                  </a:lnTo>
                  <a:lnTo>
                    <a:pt x="19050" y="4093400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096893"/>
                  </a:lnTo>
                  <a:lnTo>
                    <a:pt x="2298" y="4102443"/>
                  </a:lnTo>
                  <a:lnTo>
                    <a:pt x="6908" y="4107053"/>
                  </a:lnTo>
                  <a:lnTo>
                    <a:pt x="7378" y="4107523"/>
                  </a:lnTo>
                  <a:lnTo>
                    <a:pt x="11506" y="4111650"/>
                  </a:lnTo>
                  <a:lnTo>
                    <a:pt x="17068" y="4113949"/>
                  </a:lnTo>
                  <a:lnTo>
                    <a:pt x="3221431" y="4113949"/>
                  </a:lnTo>
                  <a:lnTo>
                    <a:pt x="3226993" y="4111650"/>
                  </a:lnTo>
                  <a:lnTo>
                    <a:pt x="3231121" y="4107523"/>
                  </a:lnTo>
                  <a:lnTo>
                    <a:pt x="3231375" y="4107281"/>
                  </a:lnTo>
                  <a:lnTo>
                    <a:pt x="3231604" y="4107053"/>
                  </a:lnTo>
                  <a:lnTo>
                    <a:pt x="3236201" y="4102443"/>
                  </a:lnTo>
                  <a:lnTo>
                    <a:pt x="3238500" y="4096893"/>
                  </a:lnTo>
                  <a:lnTo>
                    <a:pt x="3238500" y="75361"/>
                  </a:lnTo>
                  <a:close/>
                </a:path>
              </a:pathLst>
            </a:custGeom>
            <a:solidFill>
              <a:srgbClr val="494A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50" y="1924049"/>
              <a:ext cx="3238500" cy="571500"/>
            </a:xfrm>
            <a:custGeom>
              <a:avLst/>
              <a:gdLst/>
              <a:ahLst/>
              <a:cxnLst/>
              <a:rect l="l" t="t" r="r" b="b"/>
              <a:pathLst>
                <a:path w="3238500" h="571500">
                  <a:moveTo>
                    <a:pt x="3238500" y="287147"/>
                  </a:moveTo>
                  <a:lnTo>
                    <a:pt x="3218053" y="266700"/>
                  </a:lnTo>
                  <a:lnTo>
                    <a:pt x="1898002" y="266700"/>
                  </a:lnTo>
                  <a:lnTo>
                    <a:pt x="1897608" y="260324"/>
                  </a:lnTo>
                  <a:lnTo>
                    <a:pt x="1891550" y="219430"/>
                  </a:lnTo>
                  <a:lnTo>
                    <a:pt x="1879536" y="179870"/>
                  </a:lnTo>
                  <a:lnTo>
                    <a:pt x="1861858" y="142494"/>
                  </a:lnTo>
                  <a:lnTo>
                    <a:pt x="1838896" y="108127"/>
                  </a:lnTo>
                  <a:lnTo>
                    <a:pt x="1811134" y="77482"/>
                  </a:lnTo>
                  <a:lnTo>
                    <a:pt x="1779181" y="51257"/>
                  </a:lnTo>
                  <a:lnTo>
                    <a:pt x="1743710" y="30010"/>
                  </a:lnTo>
                  <a:lnTo>
                    <a:pt x="1705533" y="14185"/>
                  </a:lnTo>
                  <a:lnTo>
                    <a:pt x="1665414" y="4140"/>
                  </a:lnTo>
                  <a:lnTo>
                    <a:pt x="1624279" y="88"/>
                  </a:lnTo>
                  <a:lnTo>
                    <a:pt x="1617395" y="0"/>
                  </a:lnTo>
                  <a:lnTo>
                    <a:pt x="1610487" y="88"/>
                  </a:lnTo>
                  <a:lnTo>
                    <a:pt x="1569351" y="4140"/>
                  </a:lnTo>
                  <a:lnTo>
                    <a:pt x="1529245" y="14185"/>
                  </a:lnTo>
                  <a:lnTo>
                    <a:pt x="1491056" y="30010"/>
                  </a:lnTo>
                  <a:lnTo>
                    <a:pt x="1455585" y="51257"/>
                  </a:lnTo>
                  <a:lnTo>
                    <a:pt x="1423631" y="77482"/>
                  </a:lnTo>
                  <a:lnTo>
                    <a:pt x="1395869" y="108127"/>
                  </a:lnTo>
                  <a:lnTo>
                    <a:pt x="1372895" y="142494"/>
                  </a:lnTo>
                  <a:lnTo>
                    <a:pt x="1355229" y="179870"/>
                  </a:lnTo>
                  <a:lnTo>
                    <a:pt x="1343228" y="219430"/>
                  </a:lnTo>
                  <a:lnTo>
                    <a:pt x="1337157" y="260324"/>
                  </a:lnTo>
                  <a:lnTo>
                    <a:pt x="1336763" y="266700"/>
                  </a:lnTo>
                  <a:lnTo>
                    <a:pt x="20447" y="266700"/>
                  </a:lnTo>
                  <a:lnTo>
                    <a:pt x="0" y="287147"/>
                  </a:lnTo>
                  <a:lnTo>
                    <a:pt x="0" y="342900"/>
                  </a:lnTo>
                  <a:lnTo>
                    <a:pt x="1341348" y="342900"/>
                  </a:lnTo>
                  <a:lnTo>
                    <a:pt x="1341805" y="345325"/>
                  </a:lnTo>
                  <a:lnTo>
                    <a:pt x="1352816" y="385178"/>
                  </a:lnTo>
                  <a:lnTo>
                    <a:pt x="1369580" y="422960"/>
                  </a:lnTo>
                  <a:lnTo>
                    <a:pt x="1391691" y="457898"/>
                  </a:lnTo>
                  <a:lnTo>
                    <a:pt x="1418704" y="489204"/>
                  </a:lnTo>
                  <a:lnTo>
                    <a:pt x="1449997" y="516216"/>
                  </a:lnTo>
                  <a:lnTo>
                    <a:pt x="1484934" y="538327"/>
                  </a:lnTo>
                  <a:lnTo>
                    <a:pt x="1522730" y="555078"/>
                  </a:lnTo>
                  <a:lnTo>
                    <a:pt x="1562569" y="566102"/>
                  </a:lnTo>
                  <a:lnTo>
                    <a:pt x="1603603" y="571169"/>
                  </a:lnTo>
                  <a:lnTo>
                    <a:pt x="1617395" y="571500"/>
                  </a:lnTo>
                  <a:lnTo>
                    <a:pt x="1624279" y="571423"/>
                  </a:lnTo>
                  <a:lnTo>
                    <a:pt x="1665414" y="567372"/>
                  </a:lnTo>
                  <a:lnTo>
                    <a:pt x="1705533" y="557326"/>
                  </a:lnTo>
                  <a:lnTo>
                    <a:pt x="1743710" y="541502"/>
                  </a:lnTo>
                  <a:lnTo>
                    <a:pt x="1779181" y="520255"/>
                  </a:lnTo>
                  <a:lnTo>
                    <a:pt x="1811134" y="494030"/>
                  </a:lnTo>
                  <a:lnTo>
                    <a:pt x="1838896" y="463384"/>
                  </a:lnTo>
                  <a:lnTo>
                    <a:pt x="1861858" y="429018"/>
                  </a:lnTo>
                  <a:lnTo>
                    <a:pt x="1879536" y="391642"/>
                  </a:lnTo>
                  <a:lnTo>
                    <a:pt x="1891550" y="352082"/>
                  </a:lnTo>
                  <a:lnTo>
                    <a:pt x="1893430" y="342900"/>
                  </a:lnTo>
                  <a:lnTo>
                    <a:pt x="3238500" y="342900"/>
                  </a:lnTo>
                  <a:lnTo>
                    <a:pt x="3238500" y="287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287308" y="2510591"/>
            <a:ext cx="2820670" cy="355981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650" b="1" spc="20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Detection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Conditions:</a:t>
            </a:r>
            <a:r>
              <a:rPr sz="1450" b="1" spc="-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Claim-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photo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mismatch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detected,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high-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value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item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over</a:t>
            </a:r>
            <a:endParaRPr sz="1450">
              <a:latin typeface="Tahoma"/>
              <a:cs typeface="Tahoma"/>
            </a:endParaRPr>
          </a:p>
          <a:p>
            <a:pPr marL="12700" marR="80645">
              <a:lnSpc>
                <a:spcPct val="125000"/>
              </a:lnSpc>
              <a:spcBef>
                <a:spcPts val="75"/>
              </a:spcBef>
            </a:pP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$150,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serial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returner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pattern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(40%+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return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rate).</a:t>
            </a:r>
            <a:endParaRPr sz="1450">
              <a:latin typeface="Tahoma"/>
              <a:cs typeface="Tahoma"/>
            </a:endParaRPr>
          </a:p>
          <a:p>
            <a:pPr marL="12700" marR="125095" indent="-635">
              <a:lnSpc>
                <a:spcPct val="129299"/>
              </a:lnSpc>
              <a:spcBef>
                <a:spcPts val="900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Action:</a:t>
            </a:r>
            <a:r>
              <a:rPr sz="1450" b="1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Escalate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review.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Manager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approval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required.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Evidence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preserved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audit.</a:t>
            </a:r>
            <a:endParaRPr sz="1450">
              <a:latin typeface="Tahoma"/>
              <a:cs typeface="Tahoma"/>
            </a:endParaRPr>
          </a:p>
          <a:p>
            <a:pPr marL="12700" marR="466090">
              <a:lnSpc>
                <a:spcPct val="127200"/>
              </a:lnSpc>
              <a:spcBef>
                <a:spcPts val="935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Result:</a:t>
            </a: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Protect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revenue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while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maintaining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customer relationships.</a:t>
            </a:r>
            <a:endParaRPr sz="14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24749" y="1924049"/>
            <a:ext cx="3248025" cy="4400550"/>
            <a:chOff x="7524749" y="1924049"/>
            <a:chExt cx="3248025" cy="4400550"/>
          </a:xfrm>
        </p:grpSpPr>
        <p:sp>
          <p:nvSpPr>
            <p:cNvPr id="15" name="object 15"/>
            <p:cNvSpPr/>
            <p:nvPr/>
          </p:nvSpPr>
          <p:spPr>
            <a:xfrm>
              <a:off x="7534274" y="2209799"/>
              <a:ext cx="3228975" cy="4105275"/>
            </a:xfrm>
            <a:custGeom>
              <a:avLst/>
              <a:gdLst/>
              <a:ahLst/>
              <a:cxnLst/>
              <a:rect l="l" t="t" r="r" b="b"/>
              <a:pathLst>
                <a:path w="3228975" h="4105275">
                  <a:moveTo>
                    <a:pt x="3166681" y="0"/>
                  </a:moveTo>
                  <a:lnTo>
                    <a:pt x="62293" y="0"/>
                  </a:lnTo>
                  <a:lnTo>
                    <a:pt x="57962" y="482"/>
                  </a:lnTo>
                  <a:lnTo>
                    <a:pt x="22618" y="18783"/>
                  </a:lnTo>
                  <a:lnTo>
                    <a:pt x="2133" y="56426"/>
                  </a:lnTo>
                  <a:lnTo>
                    <a:pt x="0" y="71196"/>
                  </a:lnTo>
                  <a:lnTo>
                    <a:pt x="0" y="4091227"/>
                  </a:lnTo>
                  <a:lnTo>
                    <a:pt x="0" y="4093088"/>
                  </a:lnTo>
                  <a:lnTo>
                    <a:pt x="12179" y="4105272"/>
                  </a:lnTo>
                  <a:lnTo>
                    <a:pt x="3216783" y="4105272"/>
                  </a:lnTo>
                  <a:lnTo>
                    <a:pt x="3228975" y="4093088"/>
                  </a:lnTo>
                  <a:lnTo>
                    <a:pt x="3228975" y="71196"/>
                  </a:lnTo>
                  <a:lnTo>
                    <a:pt x="3215309" y="29705"/>
                  </a:lnTo>
                  <a:lnTo>
                    <a:pt x="3183775" y="3886"/>
                  </a:lnTo>
                  <a:lnTo>
                    <a:pt x="3171012" y="482"/>
                  </a:lnTo>
                  <a:lnTo>
                    <a:pt x="3166681" y="0"/>
                  </a:lnTo>
                  <a:close/>
                </a:path>
              </a:pathLst>
            </a:custGeom>
            <a:solidFill>
              <a:srgbClr val="10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24737" y="2210650"/>
              <a:ext cx="3248025" cy="4114165"/>
            </a:xfrm>
            <a:custGeom>
              <a:avLst/>
              <a:gdLst/>
              <a:ahLst/>
              <a:cxnLst/>
              <a:rect l="l" t="t" r="r" b="b"/>
              <a:pathLst>
                <a:path w="3248025" h="4114165">
                  <a:moveTo>
                    <a:pt x="3248025" y="75361"/>
                  </a:moveTo>
                  <a:lnTo>
                    <a:pt x="3235198" y="33020"/>
                  </a:lnTo>
                  <a:lnTo>
                    <a:pt x="3200984" y="4965"/>
                  </a:lnTo>
                  <a:lnTo>
                    <a:pt x="3182582" y="0"/>
                  </a:lnTo>
                  <a:lnTo>
                    <a:pt x="3186696" y="1092"/>
                  </a:lnTo>
                  <a:lnTo>
                    <a:pt x="3200692" y="8826"/>
                  </a:lnTo>
                  <a:lnTo>
                    <a:pt x="3224619" y="46202"/>
                  </a:lnTo>
                  <a:lnTo>
                    <a:pt x="3228975" y="75361"/>
                  </a:lnTo>
                  <a:lnTo>
                    <a:pt x="3228975" y="4093400"/>
                  </a:lnTo>
                  <a:lnTo>
                    <a:pt x="3228225" y="4094149"/>
                  </a:lnTo>
                  <a:lnTo>
                    <a:pt x="3227743" y="4094619"/>
                  </a:lnTo>
                  <a:lnTo>
                    <a:pt x="3227463" y="4094899"/>
                  </a:lnTo>
                  <a:lnTo>
                    <a:pt x="20561" y="4094899"/>
                  </a:lnTo>
                  <a:lnTo>
                    <a:pt x="20281" y="4094619"/>
                  </a:lnTo>
                  <a:lnTo>
                    <a:pt x="19812" y="4094149"/>
                  </a:lnTo>
                  <a:lnTo>
                    <a:pt x="19050" y="4093400"/>
                  </a:lnTo>
                  <a:lnTo>
                    <a:pt x="19050" y="75361"/>
                  </a:lnTo>
                  <a:lnTo>
                    <a:pt x="28676" y="33020"/>
                  </a:lnTo>
                  <a:lnTo>
                    <a:pt x="61328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13" y="21475"/>
                  </a:lnTo>
                  <a:lnTo>
                    <a:pt x="1460" y="60490"/>
                  </a:lnTo>
                  <a:lnTo>
                    <a:pt x="0" y="75361"/>
                  </a:lnTo>
                  <a:lnTo>
                    <a:pt x="0" y="4096893"/>
                  </a:lnTo>
                  <a:lnTo>
                    <a:pt x="2298" y="4102443"/>
                  </a:lnTo>
                  <a:lnTo>
                    <a:pt x="6908" y="4107053"/>
                  </a:lnTo>
                  <a:lnTo>
                    <a:pt x="7378" y="4107523"/>
                  </a:lnTo>
                  <a:lnTo>
                    <a:pt x="11506" y="4111650"/>
                  </a:lnTo>
                  <a:lnTo>
                    <a:pt x="17068" y="4113949"/>
                  </a:lnTo>
                  <a:lnTo>
                    <a:pt x="3230956" y="4113949"/>
                  </a:lnTo>
                  <a:lnTo>
                    <a:pt x="3236518" y="4111650"/>
                  </a:lnTo>
                  <a:lnTo>
                    <a:pt x="3240646" y="4107523"/>
                  </a:lnTo>
                  <a:lnTo>
                    <a:pt x="3241129" y="4107053"/>
                  </a:lnTo>
                  <a:lnTo>
                    <a:pt x="3245726" y="4102443"/>
                  </a:lnTo>
                  <a:lnTo>
                    <a:pt x="3248025" y="4096893"/>
                  </a:lnTo>
                  <a:lnTo>
                    <a:pt x="3248025" y="75361"/>
                  </a:lnTo>
                  <a:close/>
                </a:path>
              </a:pathLst>
            </a:custGeom>
            <a:solidFill>
              <a:srgbClr val="494A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24750" y="1924049"/>
              <a:ext cx="3248025" cy="571500"/>
            </a:xfrm>
            <a:custGeom>
              <a:avLst/>
              <a:gdLst/>
              <a:ahLst/>
              <a:cxnLst/>
              <a:rect l="l" t="t" r="r" b="b"/>
              <a:pathLst>
                <a:path w="3248025" h="571500">
                  <a:moveTo>
                    <a:pt x="3248025" y="287147"/>
                  </a:moveTo>
                  <a:lnTo>
                    <a:pt x="3227578" y="266700"/>
                  </a:lnTo>
                  <a:lnTo>
                    <a:pt x="1907235" y="266700"/>
                  </a:lnTo>
                  <a:lnTo>
                    <a:pt x="1907120" y="264744"/>
                  </a:lnTo>
                  <a:lnTo>
                    <a:pt x="1900948" y="223151"/>
                  </a:lnTo>
                  <a:lnTo>
                    <a:pt x="1888756" y="182918"/>
                  </a:lnTo>
                  <a:lnTo>
                    <a:pt x="1870773" y="144907"/>
                  </a:lnTo>
                  <a:lnTo>
                    <a:pt x="1847418" y="109956"/>
                  </a:lnTo>
                  <a:lnTo>
                    <a:pt x="1819173" y="78803"/>
                  </a:lnTo>
                  <a:lnTo>
                    <a:pt x="1786686" y="52133"/>
                  </a:lnTo>
                  <a:lnTo>
                    <a:pt x="1750618" y="30518"/>
                  </a:lnTo>
                  <a:lnTo>
                    <a:pt x="1711782" y="14427"/>
                  </a:lnTo>
                  <a:lnTo>
                    <a:pt x="1670989" y="4203"/>
                  </a:lnTo>
                  <a:lnTo>
                    <a:pt x="1629156" y="88"/>
                  </a:lnTo>
                  <a:lnTo>
                    <a:pt x="1622158" y="0"/>
                  </a:lnTo>
                  <a:lnTo>
                    <a:pt x="1615135" y="88"/>
                  </a:lnTo>
                  <a:lnTo>
                    <a:pt x="1573301" y="4203"/>
                  </a:lnTo>
                  <a:lnTo>
                    <a:pt x="1532509" y="14427"/>
                  </a:lnTo>
                  <a:lnTo>
                    <a:pt x="1493672" y="30518"/>
                  </a:lnTo>
                  <a:lnTo>
                    <a:pt x="1457604" y="52133"/>
                  </a:lnTo>
                  <a:lnTo>
                    <a:pt x="1425117" y="78803"/>
                  </a:lnTo>
                  <a:lnTo>
                    <a:pt x="1396873" y="109956"/>
                  </a:lnTo>
                  <a:lnTo>
                    <a:pt x="1373517" y="144907"/>
                  </a:lnTo>
                  <a:lnTo>
                    <a:pt x="1355534" y="182918"/>
                  </a:lnTo>
                  <a:lnTo>
                    <a:pt x="1343342" y="223151"/>
                  </a:lnTo>
                  <a:lnTo>
                    <a:pt x="1337170" y="264744"/>
                  </a:lnTo>
                  <a:lnTo>
                    <a:pt x="1337043" y="266700"/>
                  </a:lnTo>
                  <a:lnTo>
                    <a:pt x="20447" y="266700"/>
                  </a:lnTo>
                  <a:lnTo>
                    <a:pt x="0" y="287147"/>
                  </a:lnTo>
                  <a:lnTo>
                    <a:pt x="0" y="342900"/>
                  </a:lnTo>
                  <a:lnTo>
                    <a:pt x="1342186" y="342900"/>
                  </a:lnTo>
                  <a:lnTo>
                    <a:pt x="1343342" y="348361"/>
                  </a:lnTo>
                  <a:lnTo>
                    <a:pt x="1355534" y="388581"/>
                  </a:lnTo>
                  <a:lnTo>
                    <a:pt x="1373517" y="426605"/>
                  </a:lnTo>
                  <a:lnTo>
                    <a:pt x="1396873" y="461556"/>
                  </a:lnTo>
                  <a:lnTo>
                    <a:pt x="1425117" y="492709"/>
                  </a:lnTo>
                  <a:lnTo>
                    <a:pt x="1457604" y="519379"/>
                  </a:lnTo>
                  <a:lnTo>
                    <a:pt x="1493672" y="540994"/>
                  </a:lnTo>
                  <a:lnTo>
                    <a:pt x="1532509" y="557085"/>
                  </a:lnTo>
                  <a:lnTo>
                    <a:pt x="1573301" y="567296"/>
                  </a:lnTo>
                  <a:lnTo>
                    <a:pt x="1615135" y="571423"/>
                  </a:lnTo>
                  <a:lnTo>
                    <a:pt x="1622158" y="571500"/>
                  </a:lnTo>
                  <a:lnTo>
                    <a:pt x="1629156" y="571423"/>
                  </a:lnTo>
                  <a:lnTo>
                    <a:pt x="1670989" y="567296"/>
                  </a:lnTo>
                  <a:lnTo>
                    <a:pt x="1711782" y="557085"/>
                  </a:lnTo>
                  <a:lnTo>
                    <a:pt x="1750618" y="540994"/>
                  </a:lnTo>
                  <a:lnTo>
                    <a:pt x="1786686" y="519379"/>
                  </a:lnTo>
                  <a:lnTo>
                    <a:pt x="1819173" y="492709"/>
                  </a:lnTo>
                  <a:lnTo>
                    <a:pt x="1847418" y="461556"/>
                  </a:lnTo>
                  <a:lnTo>
                    <a:pt x="1870773" y="426605"/>
                  </a:lnTo>
                  <a:lnTo>
                    <a:pt x="1888756" y="388581"/>
                  </a:lnTo>
                  <a:lnTo>
                    <a:pt x="1900948" y="348361"/>
                  </a:lnTo>
                  <a:lnTo>
                    <a:pt x="1902104" y="342900"/>
                  </a:lnTo>
                  <a:lnTo>
                    <a:pt x="3248025" y="342900"/>
                  </a:lnTo>
                  <a:lnTo>
                    <a:pt x="3248025" y="2871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7353" y="1418049"/>
            <a:ext cx="9022715" cy="9264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Our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engine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routes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every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return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through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sophisticated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logic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balances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speed,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accuracy,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risk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management.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50">
              <a:latin typeface="Tahoma"/>
              <a:cs typeface="Tahoma"/>
            </a:endParaRPr>
          </a:p>
          <a:p>
            <a:pPr marL="1590675">
              <a:lnSpc>
                <a:spcPct val="100000"/>
              </a:lnSpc>
              <a:spcBef>
                <a:spcPts val="5"/>
              </a:spcBef>
              <a:tabLst>
                <a:tab pos="5001260" algn="l"/>
                <a:tab pos="8433435" algn="l"/>
              </a:tabLst>
            </a:pPr>
            <a:r>
              <a:rPr sz="1750" b="1" spc="-475" dirty="0">
                <a:latin typeface="Tahoma"/>
                <a:cs typeface="Tahoma"/>
              </a:rPr>
              <a:t>1</a:t>
            </a:r>
            <a:r>
              <a:rPr sz="1750" b="1" dirty="0">
                <a:latin typeface="Tahoma"/>
                <a:cs typeface="Tahoma"/>
              </a:rPr>
              <a:t>	</a:t>
            </a:r>
            <a:r>
              <a:rPr sz="1750" b="1" spc="-50" dirty="0">
                <a:latin typeface="Tahoma"/>
                <a:cs typeface="Tahoma"/>
              </a:rPr>
              <a:t>2</a:t>
            </a:r>
            <a:r>
              <a:rPr sz="1750" b="1" dirty="0">
                <a:latin typeface="Tahoma"/>
                <a:cs typeface="Tahoma"/>
              </a:rPr>
              <a:t>	</a:t>
            </a:r>
            <a:r>
              <a:rPr sz="1750" b="1" spc="-50" dirty="0">
                <a:latin typeface="Tahoma"/>
                <a:cs typeface="Tahoma"/>
              </a:rPr>
              <a:t>3</a:t>
            </a:r>
            <a:endParaRPr sz="17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20181" y="2510591"/>
            <a:ext cx="2764790" cy="299783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650" b="1" spc="2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Violation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Conditions:</a:t>
            </a: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Purchase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over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90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days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old,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order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already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returned,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clear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non-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compliance.</a:t>
            </a:r>
            <a:endParaRPr sz="1450">
              <a:latin typeface="Tahoma"/>
              <a:cs typeface="Tahoma"/>
            </a:endParaRPr>
          </a:p>
          <a:p>
            <a:pPr marL="12700" marR="187960" indent="-635">
              <a:lnSpc>
                <a:spcPct val="129299"/>
              </a:lnSpc>
              <a:spcBef>
                <a:spcPts val="825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Action:</a:t>
            </a:r>
            <a:r>
              <a:rPr sz="1450" b="1" spc="-5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Automatic</a:t>
            </a:r>
            <a:r>
              <a:rPr sz="1450" spc="-8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rejection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with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citation.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No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time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wasted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on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clear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violations.</a:t>
            </a:r>
            <a:endParaRPr sz="1450">
              <a:latin typeface="Tahoma"/>
              <a:cs typeface="Tahoma"/>
            </a:endParaRPr>
          </a:p>
          <a:p>
            <a:pPr marL="12700" marR="772795">
              <a:lnSpc>
                <a:spcPct val="129299"/>
              </a:lnSpc>
              <a:spcBef>
                <a:spcPts val="825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Result:</a:t>
            </a:r>
            <a:r>
              <a:rPr sz="1450" b="1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Consistent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policy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enforcement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scale.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229600"/>
          </a:xfrm>
          <a:custGeom>
            <a:avLst/>
            <a:gdLst/>
            <a:ahLst/>
            <a:cxnLst/>
            <a:rect l="l" t="t" r="r" b="b"/>
            <a:pathLst>
              <a:path w="11430000" h="8229600">
                <a:moveTo>
                  <a:pt x="11430000" y="0"/>
                </a:moveTo>
                <a:lnTo>
                  <a:pt x="0" y="0"/>
                </a:lnTo>
                <a:lnTo>
                  <a:pt x="0" y="8229600"/>
                </a:lnTo>
                <a:lnTo>
                  <a:pt x="11430000" y="8229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Live</a:t>
            </a:r>
            <a:r>
              <a:rPr spc="-45" dirty="0"/>
              <a:t> </a:t>
            </a:r>
            <a:r>
              <a:rPr spc="70" dirty="0"/>
              <a:t>Demo:</a:t>
            </a:r>
            <a:r>
              <a:rPr spc="-40" dirty="0"/>
              <a:t> </a:t>
            </a:r>
            <a:r>
              <a:rPr spc="60" dirty="0"/>
              <a:t>Three</a:t>
            </a:r>
            <a:r>
              <a:rPr spc="-45" dirty="0"/>
              <a:t> </a:t>
            </a:r>
            <a:r>
              <a:rPr dirty="0"/>
              <a:t>Real</a:t>
            </a:r>
            <a:r>
              <a:rPr spc="-40" dirty="0"/>
              <a:t> </a:t>
            </a:r>
            <a:r>
              <a:rPr dirty="0"/>
              <a:t>Test</a:t>
            </a:r>
            <a:r>
              <a:rPr spc="-45" dirty="0"/>
              <a:t> </a:t>
            </a:r>
            <a:r>
              <a:rPr spc="60" dirty="0"/>
              <a:t>Cases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7353" y="1506537"/>
            <a:ext cx="216217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Case</a:t>
            </a:r>
            <a:r>
              <a:rPr sz="16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290" dirty="0">
                <a:solidFill>
                  <a:srgbClr val="FFFFFF"/>
                </a:solidFill>
                <a:latin typeface="Tahoma"/>
                <a:cs typeface="Tahoma"/>
              </a:rPr>
              <a:t>1:</a:t>
            </a:r>
            <a:r>
              <a:rPr sz="1650" b="1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65" dirty="0">
                <a:solidFill>
                  <a:srgbClr val="FFFFFF"/>
                </a:solidFill>
                <a:latin typeface="Tahoma"/>
                <a:cs typeface="Tahoma"/>
              </a:rPr>
              <a:t>Broken</a:t>
            </a:r>
            <a:r>
              <a:rPr sz="1650" b="1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85" dirty="0">
                <a:solidFill>
                  <a:srgbClr val="FFFFFF"/>
                </a:solidFill>
                <a:latin typeface="Tahoma"/>
                <a:cs typeface="Tahoma"/>
              </a:rPr>
              <a:t>Mug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581" y="2009775"/>
            <a:ext cx="2664618" cy="22288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6972" y="4447000"/>
            <a:ext cx="3017520" cy="2804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Order:</a:t>
            </a:r>
            <a:r>
              <a:rPr sz="14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ORD-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2025-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001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50" b="1" spc="-105" dirty="0">
                <a:solidFill>
                  <a:srgbClr val="E2E6E9"/>
                </a:solidFill>
                <a:latin typeface="Tahoma"/>
                <a:cs typeface="Tahoma"/>
              </a:rPr>
              <a:t>Value: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$35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0" dirty="0">
                <a:solidFill>
                  <a:srgbClr val="E2E6E9"/>
                </a:solidFill>
                <a:latin typeface="Tahoma"/>
                <a:cs typeface="Tahoma"/>
              </a:rPr>
              <a:t>|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120" dirty="0">
                <a:solidFill>
                  <a:srgbClr val="E2E6E9"/>
                </a:solidFill>
                <a:latin typeface="Tahoma"/>
                <a:cs typeface="Tahoma"/>
              </a:rPr>
              <a:t>Age: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15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days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Claim: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"Arrived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shattered"</a:t>
            </a:r>
            <a:endParaRPr sz="1450">
              <a:latin typeface="Tahoma"/>
              <a:cs typeface="Tahoma"/>
            </a:endParaRPr>
          </a:p>
          <a:p>
            <a:pPr marL="12700" marR="5080" indent="-635">
              <a:lnSpc>
                <a:spcPct val="129299"/>
              </a:lnSpc>
              <a:spcBef>
                <a:spcPts val="1280"/>
              </a:spcBef>
            </a:pPr>
            <a:r>
              <a:rPr sz="1450" b="1" spc="-204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Analysis:</a:t>
            </a: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0" dirty="0">
                <a:solidFill>
                  <a:srgbClr val="E2E6E9"/>
                </a:solidFill>
                <a:latin typeface="Tahoma"/>
                <a:cs typeface="Tahoma"/>
              </a:rPr>
              <a:t>SEVERE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damage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detected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in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photo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650" spc="1500" dirty="0">
                <a:latin typeface="Times New Roman"/>
                <a:cs typeface="Times New Roman"/>
              </a:rPr>
              <a:t>'</a:t>
            </a:r>
            <a:r>
              <a:rPr sz="1650" spc="-150" dirty="0">
                <a:latin typeface="Times New Roman"/>
                <a:cs typeface="Times New Roman"/>
              </a:rPr>
              <a:t> </a:t>
            </a:r>
            <a:r>
              <a:rPr sz="1450" b="1" spc="-130" dirty="0">
                <a:solidFill>
                  <a:srgbClr val="0FB880"/>
                </a:solidFill>
                <a:latin typeface="Tahoma"/>
                <a:cs typeface="Tahoma"/>
              </a:rPr>
              <a:t>AUTO-</a:t>
            </a:r>
            <a:r>
              <a:rPr sz="1450" b="1" spc="-10" dirty="0">
                <a:solidFill>
                  <a:srgbClr val="0FB880"/>
                </a:solidFill>
                <a:latin typeface="Tahoma"/>
                <a:cs typeface="Tahoma"/>
              </a:rPr>
              <a:t>APPROVED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50" b="1" spc="-95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95" dirty="0">
                <a:solidFill>
                  <a:srgbClr val="E2E6E9"/>
                </a:solidFill>
                <a:latin typeface="Tahoma"/>
                <a:cs typeface="Tahoma"/>
              </a:rPr>
              <a:t>Time: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3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seconds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44810" y="1506537"/>
            <a:ext cx="294513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Case</a:t>
            </a:r>
            <a:r>
              <a:rPr sz="16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30" dirty="0">
                <a:solidFill>
                  <a:srgbClr val="FFFFFF"/>
                </a:solidFill>
                <a:latin typeface="Tahoma"/>
                <a:cs typeface="Tahoma"/>
              </a:rPr>
              <a:t>2:</a:t>
            </a: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Fraud</a:t>
            </a:r>
            <a:r>
              <a:rPr sz="16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60" dirty="0">
                <a:solidFill>
                  <a:srgbClr val="FFFFFF"/>
                </a:solidFill>
                <a:latin typeface="Tahoma"/>
                <a:cs typeface="Tahoma"/>
              </a:rPr>
              <a:t>Headphones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2900" y="2009775"/>
            <a:ext cx="2943224" cy="22002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44429" y="4418425"/>
            <a:ext cx="2753360" cy="30810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Order:</a:t>
            </a:r>
            <a:r>
              <a:rPr sz="14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ORD-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2025-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006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50" b="1" spc="-105" dirty="0">
                <a:solidFill>
                  <a:srgbClr val="E2E6E9"/>
                </a:solidFill>
                <a:latin typeface="Tahoma"/>
                <a:cs typeface="Tahoma"/>
              </a:rPr>
              <a:t>Value: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$199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0" dirty="0">
                <a:solidFill>
                  <a:srgbClr val="E2E6E9"/>
                </a:solidFill>
                <a:latin typeface="Tahoma"/>
                <a:cs typeface="Tahoma"/>
              </a:rPr>
              <a:t>|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120" dirty="0">
                <a:solidFill>
                  <a:srgbClr val="E2E6E9"/>
                </a:solidFill>
                <a:latin typeface="Tahoma"/>
                <a:cs typeface="Tahoma"/>
              </a:rPr>
              <a:t>Age:</a:t>
            </a:r>
            <a:r>
              <a:rPr sz="1450" b="1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27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days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Claim: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"DESTROYED"</a:t>
            </a:r>
            <a:endParaRPr sz="1450">
              <a:latin typeface="Tahoma"/>
              <a:cs typeface="Tahoma"/>
            </a:endParaRPr>
          </a:p>
          <a:p>
            <a:pPr marL="12700" marR="5080" indent="-635">
              <a:lnSpc>
                <a:spcPct val="129299"/>
              </a:lnSpc>
              <a:spcBef>
                <a:spcPts val="1280"/>
              </a:spcBef>
            </a:pPr>
            <a:r>
              <a:rPr sz="1450" b="1" spc="-204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Analysis:</a:t>
            </a: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MINOR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damage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55" dirty="0">
                <a:solidFill>
                  <a:srgbClr val="E2E6E9"/>
                </a:solidFill>
                <a:latin typeface="Tahoma"/>
                <a:cs typeface="Tahoma"/>
              </a:rPr>
              <a:t>only4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significant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claim-photo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mismatch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sz="1650" spc="1625" dirty="0">
                <a:latin typeface="Times New Roman"/>
                <a:cs typeface="Times New Roman"/>
              </a:rPr>
              <a:t>¦</a:t>
            </a:r>
            <a:r>
              <a:rPr sz="1650" spc="-185" dirty="0">
                <a:latin typeface="Times New Roman"/>
                <a:cs typeface="Times New Roman"/>
              </a:rPr>
              <a:t> </a:t>
            </a:r>
            <a:r>
              <a:rPr sz="1450" b="1" spc="-140" dirty="0">
                <a:solidFill>
                  <a:srgbClr val="F59D0A"/>
                </a:solidFill>
                <a:latin typeface="Tahoma"/>
                <a:cs typeface="Tahoma"/>
              </a:rPr>
              <a:t>FRAUD</a:t>
            </a:r>
            <a:r>
              <a:rPr sz="1450" b="1" spc="-105" dirty="0">
                <a:solidFill>
                  <a:srgbClr val="F59D0A"/>
                </a:solidFill>
                <a:latin typeface="Tahoma"/>
                <a:cs typeface="Tahoma"/>
              </a:rPr>
              <a:t> </a:t>
            </a:r>
            <a:r>
              <a:rPr sz="1450" b="1" spc="-45" dirty="0">
                <a:solidFill>
                  <a:srgbClr val="F59D0A"/>
                </a:solidFill>
                <a:latin typeface="Tahoma"/>
                <a:cs typeface="Tahoma"/>
              </a:rPr>
              <a:t>MISMATCH</a:t>
            </a:r>
            <a:endParaRPr sz="1450">
              <a:latin typeface="Tahoma"/>
              <a:cs typeface="Tahoma"/>
            </a:endParaRPr>
          </a:p>
          <a:p>
            <a:pPr marL="12700" marR="94615" indent="-635">
              <a:lnSpc>
                <a:spcPct val="125000"/>
              </a:lnSpc>
              <a:spcBef>
                <a:spcPts val="1385"/>
              </a:spcBef>
            </a:pP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Action:</a:t>
            </a:r>
            <a:r>
              <a:rPr sz="1450" b="1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195" dirty="0">
                <a:solidFill>
                  <a:srgbClr val="E2E6E9"/>
                </a:solidFill>
                <a:latin typeface="Tahoma"/>
                <a:cs typeface="Tahoma"/>
              </a:rPr>
              <a:t>³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Manager REJECTED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42276" y="1506537"/>
            <a:ext cx="270637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Case</a:t>
            </a:r>
            <a:r>
              <a:rPr sz="1650" b="1" spc="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20" dirty="0">
                <a:solidFill>
                  <a:srgbClr val="FFFFFF"/>
                </a:solidFill>
                <a:latin typeface="Tahoma"/>
                <a:cs typeface="Tahoma"/>
              </a:rPr>
              <a:t>3:</a:t>
            </a:r>
            <a:r>
              <a:rPr sz="165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75" dirty="0">
                <a:solidFill>
                  <a:srgbClr val="FFFFFF"/>
                </a:solidFill>
                <a:latin typeface="Tahoma"/>
                <a:cs typeface="Tahoma"/>
              </a:rPr>
              <a:t>Old</a:t>
            </a:r>
            <a:r>
              <a:rPr sz="1650" b="1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Water</a:t>
            </a:r>
            <a:r>
              <a:rPr sz="1650" b="1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Bottle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6725" y="2009775"/>
            <a:ext cx="2276474" cy="227647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41898" y="4485100"/>
            <a:ext cx="2731135" cy="2804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Order:</a:t>
            </a:r>
            <a:r>
              <a:rPr sz="14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ORD-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2025-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011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50" b="1" spc="-105" dirty="0">
                <a:solidFill>
                  <a:srgbClr val="E2E6E9"/>
                </a:solidFill>
                <a:latin typeface="Tahoma"/>
                <a:cs typeface="Tahoma"/>
              </a:rPr>
              <a:t>Value: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$25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0" dirty="0">
                <a:solidFill>
                  <a:srgbClr val="E2E6E9"/>
                </a:solidFill>
                <a:latin typeface="Tahoma"/>
                <a:cs typeface="Tahoma"/>
              </a:rPr>
              <a:t>|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120" dirty="0">
                <a:solidFill>
                  <a:srgbClr val="E2E6E9"/>
                </a:solidFill>
                <a:latin typeface="Tahoma"/>
                <a:cs typeface="Tahoma"/>
              </a:rPr>
              <a:t>Age:</a:t>
            </a:r>
            <a:r>
              <a:rPr sz="1450" b="1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128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days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50" b="1" spc="-75" dirty="0">
                <a:solidFill>
                  <a:srgbClr val="E2E6E9"/>
                </a:solidFill>
                <a:latin typeface="Tahoma"/>
                <a:cs typeface="Tahoma"/>
              </a:rPr>
              <a:t>Policy:</a:t>
            </a:r>
            <a:r>
              <a:rPr sz="1450" b="1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90-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day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return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window</a:t>
            </a:r>
            <a:endParaRPr sz="14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50" b="1" spc="-100" dirty="0">
                <a:solidFill>
                  <a:srgbClr val="E2E6E9"/>
                </a:solidFill>
                <a:latin typeface="Tahoma"/>
                <a:cs typeface="Tahoma"/>
              </a:rPr>
              <a:t>Status:</a:t>
            </a:r>
            <a:r>
              <a:rPr sz="1450" b="1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128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days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exceeds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endParaRPr sz="1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sz="1650" spc="1070" dirty="0">
                <a:latin typeface="Times New Roman"/>
                <a:cs typeface="Times New Roman"/>
              </a:rPr>
              <a:t>o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450" b="1" spc="-130" dirty="0">
                <a:solidFill>
                  <a:srgbClr val="EF4343"/>
                </a:solidFill>
                <a:latin typeface="Tahoma"/>
                <a:cs typeface="Tahoma"/>
              </a:rPr>
              <a:t>AUTO-</a:t>
            </a:r>
            <a:r>
              <a:rPr sz="1450" b="1" spc="-10" dirty="0">
                <a:solidFill>
                  <a:srgbClr val="EF4343"/>
                </a:solidFill>
                <a:latin typeface="Tahoma"/>
                <a:cs typeface="Tahoma"/>
              </a:rPr>
              <a:t>REJECTED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1235"/>
              </a:spcBef>
            </a:pPr>
            <a:r>
              <a:rPr sz="1450" b="1" spc="-110" dirty="0">
                <a:solidFill>
                  <a:srgbClr val="E2E6E9"/>
                </a:solidFill>
                <a:latin typeface="Tahoma"/>
                <a:cs typeface="Tahoma"/>
              </a:rPr>
              <a:t>Reason:</a:t>
            </a:r>
            <a:r>
              <a:rPr sz="1450" b="1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Clear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violation4no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needed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7353" y="463550"/>
            <a:ext cx="3787140" cy="1644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30"/>
              </a:spcBef>
            </a:pPr>
            <a:r>
              <a:rPr spc="70" dirty="0"/>
              <a:t>Built</a:t>
            </a:r>
            <a:r>
              <a:rPr spc="-85" dirty="0"/>
              <a:t> </a:t>
            </a:r>
            <a:r>
              <a:rPr spc="75" dirty="0"/>
              <a:t>with</a:t>
            </a:r>
            <a:r>
              <a:rPr spc="-85" dirty="0"/>
              <a:t> </a:t>
            </a:r>
            <a:r>
              <a:rPr spc="-10" dirty="0"/>
              <a:t>Opus: </a:t>
            </a:r>
            <a:r>
              <a:rPr dirty="0"/>
              <a:t>Enterprise-</a:t>
            </a:r>
            <a:r>
              <a:rPr spc="40" dirty="0"/>
              <a:t>Grade </a:t>
            </a:r>
            <a:r>
              <a:rPr spc="70" dirty="0"/>
              <a:t>Workflow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7353" y="2578195"/>
            <a:ext cx="270891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Opus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65" dirty="0">
                <a:solidFill>
                  <a:srgbClr val="FFFFFF"/>
                </a:solidFill>
                <a:latin typeface="Tahoma"/>
                <a:cs typeface="Tahoma"/>
              </a:rPr>
              <a:t>Nodes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Utilized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7225" y="3171634"/>
            <a:ext cx="188565" cy="1508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57225" y="3429000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6925" y="3544887"/>
            <a:ext cx="2360930" cy="1563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650" b="1" spc="-7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90" dirty="0">
                <a:solidFill>
                  <a:srgbClr val="E2E6E9"/>
                </a:solidFill>
                <a:latin typeface="Tahoma"/>
                <a:cs typeface="Tahoma"/>
              </a:rPr>
              <a:t>Agent</a:t>
            </a:r>
            <a:r>
              <a:rPr sz="1650" b="1" spc="-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Nodes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7899"/>
              </a:lnSpc>
              <a:spcBef>
                <a:spcPts val="1185"/>
              </a:spcBef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Extract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email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details,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analyze product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photos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vision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AI,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detect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patterns automatically.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556" y="5515927"/>
            <a:ext cx="173852" cy="16807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657225" y="578167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7353" y="5897562"/>
            <a:ext cx="2391410" cy="1277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Nodes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7200"/>
              </a:lnSpc>
              <a:spcBef>
                <a:spcPts val="1200"/>
              </a:spcBef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Three-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path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conditional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logic,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policy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enforcement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rules,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risk-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based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intelligent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routing.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1263" y="7591234"/>
            <a:ext cx="180488" cy="150876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57225" y="7848600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47353" y="7964487"/>
            <a:ext cx="2679700" cy="1287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5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650" b="1" spc="-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116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case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escalation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workflow,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manager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approval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interface,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override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capability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exceptions.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225" y="9657562"/>
            <a:ext cx="188595" cy="15200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57225" y="9925050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47353" y="10031412"/>
            <a:ext cx="2491740" cy="12871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75" dirty="0">
                <a:solidFill>
                  <a:srgbClr val="E2E6E9"/>
                </a:solidFill>
                <a:latin typeface="Tahoma"/>
                <a:cs typeface="Tahoma"/>
              </a:rPr>
              <a:t>Python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80" dirty="0">
                <a:solidFill>
                  <a:srgbClr val="E2E6E9"/>
                </a:solidFill>
                <a:latin typeface="Tahoma"/>
                <a:cs typeface="Tahoma"/>
              </a:rPr>
              <a:t>Code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Nodes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116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Custom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business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logic,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data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transformation,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mock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database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queries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testing.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98633" y="2578195"/>
            <a:ext cx="163957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Integrations</a:t>
            </a:r>
            <a:endParaRPr sz="20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3571" y="3152774"/>
            <a:ext cx="141427" cy="188569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3810000" y="3429000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98633" y="3544887"/>
            <a:ext cx="2595880" cy="1563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60" dirty="0">
                <a:solidFill>
                  <a:srgbClr val="E2E6E9"/>
                </a:solidFill>
                <a:latin typeface="Tahoma"/>
                <a:cs typeface="Tahoma"/>
              </a:rPr>
              <a:t>Google</a:t>
            </a: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Sheets</a:t>
            </a:r>
            <a:r>
              <a:rPr sz="1650" b="1" spc="-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25" dirty="0">
                <a:solidFill>
                  <a:srgbClr val="E2E6E9"/>
                </a:solidFill>
                <a:latin typeface="Tahoma"/>
                <a:cs typeface="Tahoma"/>
              </a:rPr>
              <a:t>API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7899"/>
              </a:lnSpc>
              <a:spcBef>
                <a:spcPts val="1185"/>
              </a:spcBef>
            </a:pPr>
            <a:r>
              <a:rPr sz="1450" spc="-55" dirty="0">
                <a:solidFill>
                  <a:srgbClr val="E2E6E9"/>
                </a:solidFill>
                <a:latin typeface="Tahoma"/>
                <a:cs typeface="Tahoma"/>
              </a:rPr>
              <a:t>Real-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time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logging,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tracking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compliance,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comprehensive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reporting dashboard.</a:t>
            </a:r>
            <a:endParaRPr sz="145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3571" y="5505450"/>
            <a:ext cx="141427" cy="188569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810000" y="5781675"/>
            <a:ext cx="2686050" cy="19050"/>
          </a:xfrm>
          <a:custGeom>
            <a:avLst/>
            <a:gdLst/>
            <a:ahLst/>
            <a:cxnLst/>
            <a:rect l="l" t="t" r="r" b="b"/>
            <a:pathLst>
              <a:path w="2686050" h="19050">
                <a:moveTo>
                  <a:pt x="2686050" y="0"/>
                </a:moveTo>
                <a:lnTo>
                  <a:pt x="0" y="0"/>
                </a:lnTo>
                <a:lnTo>
                  <a:pt x="0" y="19050"/>
                </a:lnTo>
                <a:lnTo>
                  <a:pt x="2686050" y="19050"/>
                </a:lnTo>
                <a:lnTo>
                  <a:pt x="26860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798633" y="5897562"/>
            <a:ext cx="2658110" cy="1849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b="1" spc="90" dirty="0">
                <a:solidFill>
                  <a:srgbClr val="E2E6E9"/>
                </a:solidFill>
                <a:latin typeface="Tahoma"/>
                <a:cs typeface="Tahoma"/>
              </a:rPr>
              <a:t>Mock</a:t>
            </a:r>
            <a:r>
              <a:rPr sz="1650" b="1" spc="-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APIs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8200"/>
              </a:lnSpc>
              <a:spcBef>
                <a:spcPts val="118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Order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lookup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system,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customer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data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retrieval.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Production-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ready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Shopify,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SAP,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major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platforms.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(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Used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Python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Code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Node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have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in-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memory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data)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98633" y="8083150"/>
            <a:ext cx="2398395" cy="86360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27200"/>
              </a:lnSpc>
              <a:spcBef>
                <a:spcPts val="55"/>
              </a:spcBef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Email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Integration: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Production-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ready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(manual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entry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used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in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demo)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96225"/>
          </a:xfrm>
          <a:custGeom>
            <a:avLst/>
            <a:gdLst/>
            <a:ahLst/>
            <a:cxnLst/>
            <a:rect l="l" t="t" r="r" b="b"/>
            <a:pathLst>
              <a:path w="11430000" h="7896225">
                <a:moveTo>
                  <a:pt x="11430000" y="0"/>
                </a:moveTo>
                <a:lnTo>
                  <a:pt x="0" y="0"/>
                </a:lnTo>
                <a:lnTo>
                  <a:pt x="0" y="7896225"/>
                </a:lnTo>
                <a:lnTo>
                  <a:pt x="11430000" y="78962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430000" cy="23526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7353" y="2854325"/>
            <a:ext cx="60102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5" dirty="0"/>
              <a:t>Measurable</a:t>
            </a:r>
            <a:r>
              <a:rPr spc="-85" dirty="0"/>
              <a:t> </a:t>
            </a:r>
            <a:r>
              <a:rPr spc="80" dirty="0"/>
              <a:t>Business</a:t>
            </a:r>
            <a:r>
              <a:rPr spc="-90" dirty="0"/>
              <a:t> </a:t>
            </a:r>
            <a:r>
              <a:rPr spc="45" dirty="0"/>
              <a:t>Value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7353" y="3625450"/>
            <a:ext cx="9749790" cy="596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9299"/>
              </a:lnSpc>
              <a:spcBef>
                <a:spcPts val="90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ReturnGuard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delivers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immediate,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quantifiable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impact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across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efficiency,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prevention,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compliance4backed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by</a:t>
            </a:r>
            <a:r>
              <a:rPr sz="1450" spc="-8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real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performance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metrics.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5728" y="4470431"/>
            <a:ext cx="2179320" cy="242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4900" b="1" spc="-690" dirty="0">
                <a:solidFill>
                  <a:srgbClr val="E2E6E9"/>
                </a:solidFill>
                <a:latin typeface="Tahoma"/>
                <a:cs typeface="Tahoma"/>
              </a:rPr>
              <a:t>95%</a:t>
            </a:r>
            <a:endParaRPr sz="4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70"/>
              </a:spcBef>
            </a:pP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Faster</a:t>
            </a:r>
            <a:r>
              <a:rPr sz="1650" b="1" spc="15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endParaRPr sz="1650">
              <a:latin typeface="Tahoma"/>
              <a:cs typeface="Tahoma"/>
            </a:endParaRPr>
          </a:p>
          <a:p>
            <a:pPr marL="12065" marR="5080" algn="ctr">
              <a:lnSpc>
                <a:spcPct val="127899"/>
              </a:lnSpc>
              <a:spcBef>
                <a:spcPts val="585"/>
              </a:spcBef>
            </a:pP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From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15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minutes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down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3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seconds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per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return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request. Eliminate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bottlenecks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and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scale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effortlessly.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35627" y="4470431"/>
            <a:ext cx="2172335" cy="242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100"/>
              </a:spcBef>
            </a:pPr>
            <a:r>
              <a:rPr sz="4900" b="1" spc="-270" dirty="0">
                <a:solidFill>
                  <a:srgbClr val="E2E6E9"/>
                </a:solidFill>
                <a:latin typeface="Tahoma"/>
                <a:cs typeface="Tahoma"/>
              </a:rPr>
              <a:t>$50K+</a:t>
            </a:r>
            <a:endParaRPr sz="4900">
              <a:latin typeface="Tahoma"/>
              <a:cs typeface="Tahoma"/>
            </a:endParaRPr>
          </a:p>
          <a:p>
            <a:pPr marL="231775">
              <a:lnSpc>
                <a:spcPct val="100000"/>
              </a:lnSpc>
              <a:spcBef>
                <a:spcPts val="1570"/>
              </a:spcBef>
            </a:pPr>
            <a:r>
              <a:rPr sz="1650" b="1" spc="75" dirty="0">
                <a:solidFill>
                  <a:srgbClr val="E2E6E9"/>
                </a:solidFill>
                <a:latin typeface="Tahoma"/>
                <a:cs typeface="Tahoma"/>
              </a:rPr>
              <a:t>Annual</a:t>
            </a:r>
            <a:r>
              <a:rPr sz="1650" b="1" spc="-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E2E6E9"/>
                </a:solidFill>
                <a:latin typeface="Tahoma"/>
                <a:cs typeface="Tahoma"/>
              </a:rPr>
              <a:t>Savings</a:t>
            </a:r>
            <a:endParaRPr sz="1650">
              <a:latin typeface="Tahoma"/>
              <a:cs typeface="Tahoma"/>
            </a:endParaRPr>
          </a:p>
          <a:p>
            <a:pPr marL="12700" marR="5080" indent="-635" algn="ctr">
              <a:lnSpc>
                <a:spcPct val="127899"/>
              </a:lnSpc>
              <a:spcBef>
                <a:spcPts val="585"/>
              </a:spcBef>
            </a:pP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At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1,000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per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month. Combines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prevention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savings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operational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efficiency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gains.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8787" y="4470431"/>
            <a:ext cx="2239010" cy="242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4900" b="1" spc="-1085" dirty="0">
                <a:solidFill>
                  <a:srgbClr val="E2E6E9"/>
                </a:solidFill>
                <a:latin typeface="Tahoma"/>
                <a:cs typeface="Tahoma"/>
              </a:rPr>
              <a:t>15%</a:t>
            </a:r>
            <a:endParaRPr sz="49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  <a:spcBef>
                <a:spcPts val="1570"/>
              </a:spcBef>
            </a:pP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650" b="1" spc="20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Detection</a:t>
            </a:r>
            <a:endParaRPr sz="1650">
              <a:latin typeface="Tahoma"/>
              <a:cs typeface="Tahoma"/>
            </a:endParaRPr>
          </a:p>
          <a:p>
            <a:pPr marL="12065" marR="5080" indent="-635" algn="ctr">
              <a:lnSpc>
                <a:spcPct val="127899"/>
              </a:lnSpc>
              <a:spcBef>
                <a:spcPts val="585"/>
              </a:spcBef>
            </a:pP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Catches</a:t>
            </a:r>
            <a:r>
              <a:rPr sz="1450" spc="-7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claim-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photo mismatches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suspicious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patterns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that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manual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review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misses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consistently.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2106" y="4470431"/>
            <a:ext cx="2225040" cy="2428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" algn="ctr">
              <a:lnSpc>
                <a:spcPct val="100000"/>
              </a:lnSpc>
              <a:spcBef>
                <a:spcPts val="100"/>
              </a:spcBef>
            </a:pPr>
            <a:r>
              <a:rPr sz="4900" b="1" spc="-665" dirty="0">
                <a:solidFill>
                  <a:srgbClr val="E2E6E9"/>
                </a:solidFill>
                <a:latin typeface="Tahoma"/>
                <a:cs typeface="Tahoma"/>
              </a:rPr>
              <a:t>100%</a:t>
            </a:r>
            <a:endParaRPr sz="49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  <a:spcBef>
                <a:spcPts val="1570"/>
              </a:spcBef>
            </a:pP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endParaRPr sz="1650">
              <a:latin typeface="Tahoma"/>
              <a:cs typeface="Tahoma"/>
            </a:endParaRPr>
          </a:p>
          <a:p>
            <a:pPr marL="12700" marR="5080" indent="-635" algn="ctr">
              <a:lnSpc>
                <a:spcPct val="127899"/>
              </a:lnSpc>
              <a:spcBef>
                <a:spcPts val="585"/>
              </a:spcBef>
            </a:pP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Every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logged automatically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full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traceability.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Meet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regulatory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requirements</a:t>
            </a:r>
            <a:r>
              <a:rPr sz="1450" spc="-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effortlessly.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345" y="7142194"/>
            <a:ext cx="6069330" cy="2063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spc="-30" dirty="0">
                <a:solidFill>
                  <a:srgbClr val="E2E6E9"/>
                </a:solidFill>
                <a:latin typeface="Tahoma"/>
                <a:cs typeface="Tahoma"/>
              </a:rPr>
              <a:t>*Estimates</a:t>
            </a:r>
            <a:r>
              <a:rPr sz="11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based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E2E6E9"/>
                </a:solidFill>
                <a:latin typeface="Tahoma"/>
                <a:cs typeface="Tahoma"/>
              </a:rPr>
              <a:t>on</a:t>
            </a:r>
            <a:r>
              <a:rPr sz="11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45" dirty="0">
                <a:solidFill>
                  <a:srgbClr val="E2E6E9"/>
                </a:solidFill>
                <a:latin typeface="Tahoma"/>
                <a:cs typeface="Tahoma"/>
              </a:rPr>
              <a:t>1,000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E2E6E9"/>
                </a:solidFill>
                <a:latin typeface="Tahoma"/>
                <a:cs typeface="Tahoma"/>
              </a:rPr>
              <a:t>monthly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1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at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industry-standard</a:t>
            </a:r>
            <a:r>
              <a:rPr sz="11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processing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20" dirty="0">
                <a:solidFill>
                  <a:srgbClr val="E2E6E9"/>
                </a:solidFill>
                <a:latin typeface="Tahoma"/>
                <a:cs typeface="Tahoma"/>
              </a:rPr>
              <a:t>costs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1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1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150" spc="-10" dirty="0">
                <a:solidFill>
                  <a:srgbClr val="E2E6E9"/>
                </a:solidFill>
                <a:latin typeface="Tahoma"/>
                <a:cs typeface="Tahoma"/>
              </a:rPr>
              <a:t>rates</a:t>
            </a:r>
            <a:endParaRPr sz="1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12515850"/>
          </a:xfrm>
          <a:custGeom>
            <a:avLst/>
            <a:gdLst/>
            <a:ahLst/>
            <a:cxnLst/>
            <a:rect l="l" t="t" r="r" b="b"/>
            <a:pathLst>
              <a:path w="11430000" h="12515850">
                <a:moveTo>
                  <a:pt x="11430000" y="0"/>
                </a:moveTo>
                <a:lnTo>
                  <a:pt x="0" y="0"/>
                </a:lnTo>
                <a:lnTo>
                  <a:pt x="0" y="12515850"/>
                </a:lnTo>
                <a:lnTo>
                  <a:pt x="11430000" y="12515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0" dirty="0"/>
              <a:t>Production-</a:t>
            </a:r>
            <a:r>
              <a:rPr spc="65" dirty="0"/>
              <a:t>Ready</a:t>
            </a:r>
            <a:r>
              <a:rPr spc="-50" dirty="0"/>
              <a:t> </a:t>
            </a:r>
            <a:r>
              <a:rPr spc="7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6391274"/>
            <a:ext cx="66675" cy="666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6734175"/>
            <a:ext cx="66675" cy="666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7086600"/>
            <a:ext cx="66675" cy="666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7429500"/>
            <a:ext cx="66675" cy="666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8553450"/>
            <a:ext cx="66675" cy="6667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8896350"/>
            <a:ext cx="66675" cy="666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325" y="9248775"/>
            <a:ext cx="66675" cy="6667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325" y="10420350"/>
            <a:ext cx="66675" cy="6667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325" y="10763250"/>
            <a:ext cx="66675" cy="666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325" y="11115675"/>
            <a:ext cx="66675" cy="66675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325" y="11458571"/>
            <a:ext cx="66675" cy="66675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5325" y="11810996"/>
            <a:ext cx="66675" cy="6667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47348" y="1418050"/>
            <a:ext cx="6836409" cy="10539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Core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workflow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functional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clear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production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roadmap</a:t>
            </a: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14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114" dirty="0">
                <a:solidFill>
                  <a:srgbClr val="FFFFFF"/>
                </a:solidFill>
                <a:latin typeface="Tahoma"/>
                <a:cs typeface="Tahoma"/>
              </a:rPr>
              <a:t>Demo</a:t>
            </a:r>
            <a:r>
              <a:rPr sz="2000" b="1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Implementation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ahoma"/>
              <a:cs typeface="Tahoma"/>
            </a:endParaRPr>
          </a:p>
          <a:p>
            <a:pPr marL="313690" indent="-300990">
              <a:lnSpc>
                <a:spcPct val="100000"/>
              </a:lnSpc>
              <a:buFont typeface="Tahoma"/>
              <a:buAutoNum type="arabicPeriod"/>
              <a:tabLst>
                <a:tab pos="313690" algn="l"/>
              </a:tabLst>
            </a:pPr>
            <a:r>
              <a:rPr sz="1450" b="1" spc="-105" dirty="0">
                <a:solidFill>
                  <a:srgbClr val="E2E6E9"/>
                </a:solidFill>
                <a:latin typeface="Tahoma"/>
                <a:cs typeface="Tahoma"/>
              </a:rPr>
              <a:t>Customer</a:t>
            </a:r>
            <a:r>
              <a:rPr sz="1450" b="1" spc="-5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E2E6E9"/>
                </a:solidFill>
                <a:latin typeface="Tahoma"/>
                <a:cs typeface="Tahoma"/>
              </a:rPr>
              <a:t>Submission</a:t>
            </a:r>
            <a:endParaRPr sz="1450" dirty="0">
              <a:latin typeface="Tahoma"/>
              <a:cs typeface="Tahoma"/>
            </a:endParaRPr>
          </a:p>
          <a:p>
            <a:pPr marL="314325">
              <a:lnSpc>
                <a:spcPct val="100000"/>
              </a:lnSpc>
              <a:spcBef>
                <a:spcPts val="509"/>
              </a:spcBef>
            </a:pP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Manual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workflow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trigger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via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Opus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interface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(production: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automated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email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gateway)</a:t>
            </a:r>
            <a:endParaRPr sz="1450" dirty="0">
              <a:latin typeface="Tahoma"/>
              <a:cs typeface="Tahoma"/>
            </a:endParaRPr>
          </a:p>
          <a:p>
            <a:pPr marL="313690" indent="-300990">
              <a:lnSpc>
                <a:spcPct val="100000"/>
              </a:lnSpc>
              <a:spcBef>
                <a:spcPts val="960"/>
              </a:spcBef>
              <a:buFont typeface="Tahoma"/>
              <a:buAutoNum type="arabicPeriod" startAt="2"/>
              <a:tabLst>
                <a:tab pos="313690" algn="l"/>
              </a:tabLst>
            </a:pPr>
            <a:r>
              <a:rPr lang="en-US" sz="1450" b="1" spc="-95" dirty="0">
                <a:solidFill>
                  <a:srgbClr val="E2E6E9"/>
                </a:solidFill>
                <a:latin typeface="Tahoma"/>
                <a:cs typeface="Tahoma"/>
              </a:rPr>
              <a:t>YOLOV8 workflow</a:t>
            </a:r>
            <a:endParaRPr sz="1450" dirty="0">
              <a:latin typeface="Tahoma"/>
              <a:cs typeface="Tahoma"/>
            </a:endParaRPr>
          </a:p>
          <a:p>
            <a:pPr marL="314325">
              <a:lnSpc>
                <a:spcPct val="100000"/>
              </a:lnSpc>
              <a:spcBef>
                <a:spcPts val="509"/>
              </a:spcBef>
            </a:pP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engine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processes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claims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vision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analysis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mock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order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lookup</a:t>
            </a:r>
            <a:endParaRPr sz="1450" dirty="0">
              <a:latin typeface="Tahoma"/>
              <a:cs typeface="Tahoma"/>
            </a:endParaRPr>
          </a:p>
          <a:p>
            <a:pPr marL="313690" indent="-300990">
              <a:lnSpc>
                <a:spcPct val="100000"/>
              </a:lnSpc>
              <a:spcBef>
                <a:spcPts val="1035"/>
              </a:spcBef>
              <a:buFont typeface="Tahoma"/>
              <a:buAutoNum type="arabicPeriod" startAt="3"/>
              <a:tabLst>
                <a:tab pos="313690" algn="l"/>
              </a:tabLst>
            </a:pPr>
            <a:r>
              <a:rPr sz="1450" b="1" spc="-95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b="1" spc="-6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20" dirty="0">
                <a:solidFill>
                  <a:srgbClr val="E2E6E9"/>
                </a:solidFill>
                <a:latin typeface="Tahoma"/>
                <a:cs typeface="Tahoma"/>
              </a:rPr>
              <a:t>Logic</a:t>
            </a:r>
            <a:endParaRPr sz="1450" dirty="0">
              <a:latin typeface="Tahoma"/>
              <a:cs typeface="Tahoma"/>
            </a:endParaRPr>
          </a:p>
          <a:p>
            <a:pPr marL="314325">
              <a:lnSpc>
                <a:spcPct val="100000"/>
              </a:lnSpc>
              <a:spcBef>
                <a:spcPts val="434"/>
              </a:spcBef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Three-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path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routing: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auto-approve,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review,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or</a:t>
            </a:r>
            <a:r>
              <a:rPr sz="1450" spc="-10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auto-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reject</a:t>
            </a:r>
            <a:endParaRPr sz="1450" dirty="0">
              <a:latin typeface="Tahoma"/>
              <a:cs typeface="Tahoma"/>
            </a:endParaRPr>
          </a:p>
          <a:p>
            <a:pPr marL="313690" indent="-300990">
              <a:lnSpc>
                <a:spcPct val="100000"/>
              </a:lnSpc>
              <a:spcBef>
                <a:spcPts val="1035"/>
              </a:spcBef>
              <a:buFont typeface="Tahoma"/>
              <a:buAutoNum type="arabicPeriod" startAt="4"/>
              <a:tabLst>
                <a:tab pos="313690" algn="l"/>
              </a:tabLst>
            </a:pPr>
            <a:r>
              <a:rPr sz="1450" b="1" spc="-80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70" dirty="0">
                <a:solidFill>
                  <a:srgbClr val="E2E6E9"/>
                </a:solidFill>
                <a:latin typeface="Tahoma"/>
                <a:cs typeface="Tahoma"/>
              </a:rPr>
              <a:t>S</a:t>
            </a:r>
            <a:r>
              <a:rPr sz="1450" b="1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b="1" spc="-10" dirty="0">
                <a:solidFill>
                  <a:srgbClr val="E2E6E9"/>
                </a:solidFill>
                <a:latin typeface="Tahoma"/>
                <a:cs typeface="Tahoma"/>
              </a:rPr>
              <a:t>Logging</a:t>
            </a:r>
            <a:endParaRPr sz="1450" dirty="0">
              <a:latin typeface="Tahoma"/>
              <a:cs typeface="Tahoma"/>
            </a:endParaRPr>
          </a:p>
          <a:p>
            <a:pPr marL="314325">
              <a:lnSpc>
                <a:spcPct val="100000"/>
              </a:lnSpc>
              <a:spcBef>
                <a:spcPts val="509"/>
              </a:spcBef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All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logged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Google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Sheets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tracking</a:t>
            </a: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4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60" dirty="0">
                <a:solidFill>
                  <a:srgbClr val="FFFFFF"/>
                </a:solidFill>
                <a:latin typeface="Tahoma"/>
                <a:cs typeface="Tahoma"/>
              </a:rPr>
              <a:t>Production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60" dirty="0">
                <a:solidFill>
                  <a:srgbClr val="FFFFFF"/>
                </a:solidFill>
                <a:latin typeface="Tahoma"/>
                <a:cs typeface="Tahoma"/>
              </a:rPr>
              <a:t>Roadmap</a:t>
            </a:r>
            <a:endParaRPr sz="2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Integration</a:t>
            </a:r>
            <a:r>
              <a:rPr sz="1650" b="1" spc="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-10" dirty="0">
                <a:solidFill>
                  <a:srgbClr val="FFFFFF"/>
                </a:solidFill>
                <a:latin typeface="Tahoma"/>
                <a:cs typeface="Tahoma"/>
              </a:rPr>
              <a:t>Targets:</a:t>
            </a:r>
            <a:endParaRPr sz="16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6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Email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gateway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integration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(Formspree,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SendGrid)</a:t>
            </a:r>
            <a:endParaRPr sz="14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960"/>
              </a:spcBef>
            </a:pP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E-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commerce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platforms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(Shopify,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WooCommerce,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BigCommerce)</a:t>
            </a:r>
            <a:endParaRPr sz="1450" dirty="0">
              <a:latin typeface="Tahoma"/>
              <a:cs typeface="Tahoma"/>
            </a:endParaRPr>
          </a:p>
          <a:p>
            <a:pPr marL="313690" marR="2227580">
              <a:lnSpc>
                <a:spcPct val="155200"/>
              </a:lnSpc>
              <a:spcBef>
                <a:spcPts val="75"/>
              </a:spcBef>
            </a:pP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Order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management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systems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(SAP,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Oracle,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custom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APIs)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Customer</a:t>
            </a:r>
            <a:r>
              <a:rPr sz="1450" spc="-9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notification</a:t>
            </a:r>
            <a:r>
              <a:rPr sz="1450" spc="-9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system</a:t>
            </a: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14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6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b="1" spc="35" dirty="0">
                <a:solidFill>
                  <a:srgbClr val="FFFFFF"/>
                </a:solidFill>
                <a:latin typeface="Tahoma"/>
                <a:cs typeface="Tahoma"/>
              </a:rPr>
              <a:t>Compliance:</a:t>
            </a:r>
            <a:endParaRPr sz="16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6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SOC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2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Type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60" dirty="0">
                <a:solidFill>
                  <a:srgbClr val="E2E6E9"/>
                </a:solidFill>
                <a:latin typeface="Tahoma"/>
                <a:cs typeface="Tahoma"/>
              </a:rPr>
              <a:t>II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preparation</a:t>
            </a:r>
            <a:endParaRPr sz="1450" dirty="0">
              <a:latin typeface="Tahoma"/>
              <a:cs typeface="Tahoma"/>
            </a:endParaRPr>
          </a:p>
          <a:p>
            <a:pPr marL="313690" marR="3435985">
              <a:lnSpc>
                <a:spcPts val="2780"/>
              </a:lnSpc>
              <a:spcBef>
                <a:spcPts val="185"/>
              </a:spcBef>
            </a:pPr>
            <a:r>
              <a:rPr sz="1450" spc="-50" dirty="0">
                <a:solidFill>
                  <a:srgbClr val="E2E6E9"/>
                </a:solidFill>
                <a:latin typeface="Tahoma"/>
                <a:cs typeface="Tahoma"/>
              </a:rPr>
              <a:t>GDPR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55" dirty="0">
                <a:solidFill>
                  <a:srgbClr val="E2E6E9"/>
                </a:solidFill>
                <a:latin typeface="Tahoma"/>
                <a:cs typeface="Tahoma"/>
              </a:rPr>
              <a:t>CCPA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framework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Encrypted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data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transmission</a:t>
            </a:r>
            <a:endParaRPr sz="14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4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Current</a:t>
            </a:r>
            <a:r>
              <a:rPr sz="2000" b="1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114" dirty="0">
                <a:solidFill>
                  <a:srgbClr val="FFFFFF"/>
                </a:solidFill>
                <a:latin typeface="Tahoma"/>
                <a:cs typeface="Tahoma"/>
              </a:rPr>
              <a:t>Demo</a:t>
            </a:r>
            <a:r>
              <a:rPr sz="2000" b="1" spc="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Status</a:t>
            </a:r>
            <a:endParaRPr sz="2000" dirty="0">
              <a:latin typeface="Tahoma"/>
              <a:cs typeface="Tahoma"/>
            </a:endParaRPr>
          </a:p>
          <a:p>
            <a:pPr marL="313690" marR="3931285">
              <a:lnSpc>
                <a:spcPct val="155200"/>
              </a:lnSpc>
              <a:spcBef>
                <a:spcPts val="1540"/>
              </a:spcBef>
            </a:pPr>
            <a:r>
              <a:rPr sz="1450" spc="114" dirty="0">
                <a:solidFill>
                  <a:srgbClr val="E2E6E9"/>
                </a:solidFill>
                <a:latin typeface="Tahoma"/>
                <a:cs typeface="Tahoma"/>
              </a:rPr>
              <a:t>7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Core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decision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logic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operational </a:t>
            </a:r>
            <a:r>
              <a:rPr sz="1450" spc="114" dirty="0">
                <a:solidFill>
                  <a:srgbClr val="E2E6E9"/>
                </a:solidFill>
                <a:latin typeface="Tahoma"/>
                <a:cs typeface="Tahoma"/>
              </a:rPr>
              <a:t>7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fraud</a:t>
            </a:r>
            <a:r>
              <a:rPr sz="1450" spc="-14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detection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functional</a:t>
            </a:r>
            <a:endParaRPr sz="14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1035"/>
              </a:spcBef>
            </a:pPr>
            <a:r>
              <a:rPr sz="1450" spc="114" dirty="0">
                <a:solidFill>
                  <a:srgbClr val="E2E6E9"/>
                </a:solidFill>
                <a:latin typeface="Tahoma"/>
                <a:cs typeface="Tahoma"/>
              </a:rPr>
              <a:t>7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Human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review</a:t>
            </a:r>
            <a:r>
              <a:rPr sz="1450" spc="-14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workflow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complete</a:t>
            </a:r>
            <a:endParaRPr sz="14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960"/>
              </a:spcBef>
            </a:pPr>
            <a:r>
              <a:rPr sz="1450" spc="114" dirty="0">
                <a:solidFill>
                  <a:srgbClr val="E2E6E9"/>
                </a:solidFill>
                <a:latin typeface="Tahoma"/>
                <a:cs typeface="Tahoma"/>
              </a:rPr>
              <a:t>7</a:t>
            </a:r>
            <a:r>
              <a:rPr sz="1450" spc="-13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Audit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logging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Google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Sheets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active</a:t>
            </a:r>
            <a:endParaRPr sz="1450" dirty="0">
              <a:latin typeface="Tahoma"/>
              <a:cs typeface="Tahoma"/>
            </a:endParaRPr>
          </a:p>
          <a:p>
            <a:pPr marL="313690">
              <a:lnSpc>
                <a:spcPct val="100000"/>
              </a:lnSpc>
              <a:spcBef>
                <a:spcPts val="1035"/>
              </a:spcBef>
            </a:pPr>
            <a:r>
              <a:rPr sz="1450" spc="114" dirty="0">
                <a:solidFill>
                  <a:srgbClr val="E2E6E9"/>
                </a:solidFill>
                <a:latin typeface="Tahoma"/>
                <a:cs typeface="Tahoma"/>
              </a:rPr>
              <a:t>7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Mock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70" dirty="0">
                <a:solidFill>
                  <a:srgbClr val="E2E6E9"/>
                </a:solidFill>
                <a:latin typeface="Tahoma"/>
                <a:cs typeface="Tahoma"/>
              </a:rPr>
              <a:t>API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demonstrates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production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integration</a:t>
            </a:r>
            <a:r>
              <a:rPr sz="1450" spc="-10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pattern</a:t>
            </a:r>
            <a:endParaRPr sz="14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115300"/>
          </a:xfrm>
          <a:custGeom>
            <a:avLst/>
            <a:gdLst/>
            <a:ahLst/>
            <a:cxnLst/>
            <a:rect l="l" t="t" r="r" b="b"/>
            <a:pathLst>
              <a:path w="11430000" h="8115300">
                <a:moveTo>
                  <a:pt x="11430000" y="0"/>
                </a:moveTo>
                <a:lnTo>
                  <a:pt x="0" y="0"/>
                </a:lnTo>
                <a:lnTo>
                  <a:pt x="0" y="8115300"/>
                </a:lnTo>
                <a:lnTo>
                  <a:pt x="11430000" y="8115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1011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35331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7353" y="2844800"/>
            <a:ext cx="6919595" cy="1054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750" spc="100" dirty="0"/>
              <a:t>ReturnGuard</a:t>
            </a:r>
            <a:r>
              <a:rPr sz="6750" spc="-200" dirty="0"/>
              <a:t> </a:t>
            </a:r>
            <a:r>
              <a:rPr sz="6750" spc="-340" dirty="0"/>
              <a:t>AI</a:t>
            </a:r>
            <a:endParaRPr sz="6750"/>
          </a:p>
        </p:txBody>
      </p:sp>
      <p:sp>
        <p:nvSpPr>
          <p:cNvPr id="5" name="object 5"/>
          <p:cNvSpPr txBox="1"/>
          <p:nvPr/>
        </p:nvSpPr>
        <p:spPr>
          <a:xfrm>
            <a:off x="647353" y="4218400"/>
            <a:ext cx="309626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Built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Opus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the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65" dirty="0">
                <a:solidFill>
                  <a:srgbClr val="E2E6E9"/>
                </a:solidFill>
                <a:latin typeface="Tahoma"/>
                <a:cs typeface="Tahoma"/>
              </a:rPr>
              <a:t>2025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Hackathon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25" y="4724400"/>
            <a:ext cx="3248025" cy="1590675"/>
          </a:xfrm>
          <a:custGeom>
            <a:avLst/>
            <a:gdLst/>
            <a:ahLst/>
            <a:cxnLst/>
            <a:rect l="l" t="t" r="r" b="b"/>
            <a:pathLst>
              <a:path w="3248025" h="1590675">
                <a:moveTo>
                  <a:pt x="3227578" y="0"/>
                </a:moveTo>
                <a:lnTo>
                  <a:pt x="20449" y="0"/>
                </a:lnTo>
                <a:lnTo>
                  <a:pt x="17442" y="596"/>
                </a:lnTo>
                <a:lnTo>
                  <a:pt x="0" y="20447"/>
                </a:lnTo>
                <a:lnTo>
                  <a:pt x="0" y="1567103"/>
                </a:lnTo>
                <a:lnTo>
                  <a:pt x="0" y="1570228"/>
                </a:lnTo>
                <a:lnTo>
                  <a:pt x="20449" y="1590675"/>
                </a:lnTo>
                <a:lnTo>
                  <a:pt x="3227578" y="1590675"/>
                </a:lnTo>
                <a:lnTo>
                  <a:pt x="3248025" y="1570228"/>
                </a:lnTo>
                <a:lnTo>
                  <a:pt x="3248025" y="20447"/>
                </a:lnTo>
                <a:lnTo>
                  <a:pt x="3230587" y="596"/>
                </a:lnTo>
                <a:lnTo>
                  <a:pt x="3227578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5917" y="4634431"/>
            <a:ext cx="2811145" cy="118872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630"/>
              </a:spcBef>
            </a:pPr>
            <a:r>
              <a:rPr sz="2350" dirty="0">
                <a:latin typeface="Times New Roman"/>
                <a:cs typeface="Times New Roman"/>
              </a:rPr>
              <a:t>@</a:t>
            </a:r>
            <a:r>
              <a:rPr sz="2350" spc="-155" dirty="0">
                <a:latin typeface="Times New Roman"/>
                <a:cs typeface="Times New Roman"/>
              </a:rPr>
              <a:t> </a:t>
            </a:r>
            <a:r>
              <a:rPr sz="1650" b="1" spc="-200" dirty="0">
                <a:solidFill>
                  <a:srgbClr val="E2E6E9"/>
                </a:solidFill>
                <a:latin typeface="Tahoma"/>
                <a:cs typeface="Tahoma"/>
              </a:rPr>
              <a:t>95%</a:t>
            </a:r>
            <a:r>
              <a:rPr sz="1650" b="1" spc="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dirty="0">
                <a:solidFill>
                  <a:srgbClr val="E2E6E9"/>
                </a:solidFill>
                <a:latin typeface="Tahoma"/>
                <a:cs typeface="Tahoma"/>
              </a:rPr>
              <a:t>Faster</a:t>
            </a:r>
            <a:r>
              <a:rPr sz="1650" b="1" spc="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45" dirty="0">
                <a:solidFill>
                  <a:srgbClr val="E2E6E9"/>
                </a:solidFill>
                <a:latin typeface="Tahoma"/>
                <a:cs typeface="Tahoma"/>
              </a:rPr>
              <a:t>Processing </a:t>
            </a:r>
            <a:r>
              <a:rPr sz="1450" spc="-40" dirty="0">
                <a:solidFill>
                  <a:srgbClr val="E2E6E9"/>
                </a:solidFill>
                <a:latin typeface="Tahoma"/>
                <a:cs typeface="Tahoma"/>
              </a:rPr>
              <a:t>Transform</a:t>
            </a:r>
            <a:r>
              <a:rPr sz="1450" spc="-114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from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hours</a:t>
            </a:r>
            <a:r>
              <a:rPr sz="1450" spc="-11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to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seconds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95750" y="4724400"/>
            <a:ext cx="3238500" cy="1590675"/>
          </a:xfrm>
          <a:custGeom>
            <a:avLst/>
            <a:gdLst/>
            <a:ahLst/>
            <a:cxnLst/>
            <a:rect l="l" t="t" r="r" b="b"/>
            <a:pathLst>
              <a:path w="3238500" h="1590675">
                <a:moveTo>
                  <a:pt x="3218053" y="0"/>
                </a:moveTo>
                <a:lnTo>
                  <a:pt x="20447" y="0"/>
                </a:lnTo>
                <a:lnTo>
                  <a:pt x="17437" y="596"/>
                </a:lnTo>
                <a:lnTo>
                  <a:pt x="0" y="20447"/>
                </a:lnTo>
                <a:lnTo>
                  <a:pt x="0" y="1567103"/>
                </a:lnTo>
                <a:lnTo>
                  <a:pt x="0" y="1570228"/>
                </a:lnTo>
                <a:lnTo>
                  <a:pt x="20447" y="1590675"/>
                </a:lnTo>
                <a:lnTo>
                  <a:pt x="3218053" y="1590675"/>
                </a:lnTo>
                <a:lnTo>
                  <a:pt x="3238500" y="1570228"/>
                </a:lnTo>
                <a:lnTo>
                  <a:pt x="3238500" y="20447"/>
                </a:lnTo>
                <a:lnTo>
                  <a:pt x="3221062" y="596"/>
                </a:lnTo>
                <a:lnTo>
                  <a:pt x="3218053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68635" y="4814268"/>
            <a:ext cx="2494280" cy="1275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159385">
              <a:lnSpc>
                <a:spcPct val="99100"/>
              </a:lnSpc>
              <a:spcBef>
                <a:spcPts val="114"/>
              </a:spcBef>
            </a:pPr>
            <a:r>
              <a:rPr sz="2350" spc="1035" dirty="0">
                <a:latin typeface="Times New Roman"/>
                <a:cs typeface="Times New Roman"/>
              </a:rPr>
              <a:t>ć</a:t>
            </a:r>
            <a:r>
              <a:rPr sz="2350" dirty="0">
                <a:latin typeface="Times New Roman"/>
                <a:cs typeface="Times New Roman"/>
              </a:rPr>
              <a:t> </a:t>
            </a:r>
            <a:r>
              <a:rPr sz="1650" b="1" spc="-75" dirty="0">
                <a:solidFill>
                  <a:srgbClr val="E2E6E9"/>
                </a:solidFill>
                <a:latin typeface="Tahoma"/>
                <a:cs typeface="Tahoma"/>
              </a:rPr>
              <a:t>AI-</a:t>
            </a: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Powered</a:t>
            </a:r>
            <a:r>
              <a:rPr sz="1650" b="1" spc="-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Fraud </a:t>
            </a:r>
            <a:r>
              <a:rPr sz="1650" b="1" spc="50" dirty="0">
                <a:solidFill>
                  <a:srgbClr val="E2E6E9"/>
                </a:solidFill>
                <a:latin typeface="Tahoma"/>
                <a:cs typeface="Tahoma"/>
              </a:rPr>
              <a:t>Detection</a:t>
            </a:r>
            <a:endParaRPr sz="1650" dirty="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60"/>
              </a:spcBef>
            </a:pP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Protect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revenue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with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intelligent analysis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524750" y="4724400"/>
            <a:ext cx="3248025" cy="1590675"/>
          </a:xfrm>
          <a:custGeom>
            <a:avLst/>
            <a:gdLst/>
            <a:ahLst/>
            <a:cxnLst/>
            <a:rect l="l" t="t" r="r" b="b"/>
            <a:pathLst>
              <a:path w="3248025" h="1590675">
                <a:moveTo>
                  <a:pt x="3227578" y="0"/>
                </a:moveTo>
                <a:lnTo>
                  <a:pt x="20447" y="0"/>
                </a:lnTo>
                <a:lnTo>
                  <a:pt x="17437" y="596"/>
                </a:lnTo>
                <a:lnTo>
                  <a:pt x="0" y="20447"/>
                </a:lnTo>
                <a:lnTo>
                  <a:pt x="0" y="1567103"/>
                </a:lnTo>
                <a:lnTo>
                  <a:pt x="0" y="1570228"/>
                </a:lnTo>
                <a:lnTo>
                  <a:pt x="20447" y="1590675"/>
                </a:lnTo>
                <a:lnTo>
                  <a:pt x="3227578" y="1590675"/>
                </a:lnTo>
                <a:lnTo>
                  <a:pt x="3248025" y="1570228"/>
                </a:lnTo>
                <a:lnTo>
                  <a:pt x="3248025" y="20447"/>
                </a:lnTo>
                <a:lnTo>
                  <a:pt x="3230587" y="596"/>
                </a:lnTo>
                <a:lnTo>
                  <a:pt x="3227578" y="0"/>
                </a:lnTo>
                <a:close/>
              </a:path>
            </a:pathLst>
          </a:custGeom>
          <a:solidFill>
            <a:srgbClr val="2F30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701508" y="4815640"/>
            <a:ext cx="2428240" cy="12738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347345">
              <a:lnSpc>
                <a:spcPct val="100000"/>
              </a:lnSpc>
              <a:spcBef>
                <a:spcPts val="130"/>
              </a:spcBef>
            </a:pPr>
            <a:r>
              <a:rPr sz="2300" spc="1755" dirty="0">
                <a:latin typeface="Times New Roman"/>
                <a:cs typeface="Times New Roman"/>
              </a:rPr>
              <a:t>i</a:t>
            </a:r>
            <a:r>
              <a:rPr sz="2300" spc="-185" dirty="0">
                <a:latin typeface="Times New Roman"/>
                <a:cs typeface="Times New Roman"/>
              </a:rPr>
              <a:t> </a:t>
            </a:r>
            <a:r>
              <a:rPr sz="1650" b="1" spc="65" dirty="0">
                <a:solidFill>
                  <a:srgbClr val="E2E6E9"/>
                </a:solidFill>
                <a:latin typeface="Tahoma"/>
                <a:cs typeface="Tahoma"/>
              </a:rPr>
              <a:t>Complete</a:t>
            </a:r>
            <a:r>
              <a:rPr sz="1650" b="1" spc="-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650" b="1" spc="-20" dirty="0">
                <a:solidFill>
                  <a:srgbClr val="E2E6E9"/>
                </a:solidFill>
                <a:latin typeface="Tahoma"/>
                <a:cs typeface="Tahoma"/>
              </a:rPr>
              <a:t>Audit </a:t>
            </a:r>
            <a:r>
              <a:rPr sz="1650" b="1" spc="55" dirty="0">
                <a:solidFill>
                  <a:srgbClr val="E2E6E9"/>
                </a:solidFill>
                <a:latin typeface="Tahoma"/>
                <a:cs typeface="Tahoma"/>
              </a:rPr>
              <a:t>Compliance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299"/>
              </a:lnSpc>
              <a:spcBef>
                <a:spcPts val="550"/>
              </a:spcBef>
            </a:pP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Full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traceability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and</a:t>
            </a:r>
            <a:r>
              <a:rPr sz="1450" spc="-15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regulatory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peace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of</a:t>
            </a:r>
            <a:r>
              <a:rPr sz="1450" spc="-130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mind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353" y="6578601"/>
            <a:ext cx="962596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40" dirty="0">
                <a:solidFill>
                  <a:srgbClr val="FFFFFF"/>
                </a:solidFill>
                <a:latin typeface="Tahoma"/>
                <a:cs typeface="Tahoma"/>
              </a:rPr>
              <a:t>Than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sz="1450" spc="-45" dirty="0">
                <a:solidFill>
                  <a:srgbClr val="E2E6E9"/>
                </a:solidFill>
                <a:latin typeface="Tahoma"/>
                <a:cs typeface="Tahoma"/>
              </a:rPr>
              <a:t>Ready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dirty="0">
                <a:solidFill>
                  <a:srgbClr val="E2E6E9"/>
                </a:solidFill>
                <a:latin typeface="Tahoma"/>
                <a:cs typeface="Tahoma"/>
              </a:rPr>
              <a:t>to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transform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your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5" dirty="0">
                <a:solidFill>
                  <a:srgbClr val="E2E6E9"/>
                </a:solidFill>
                <a:latin typeface="Tahoma"/>
                <a:cs typeface="Tahoma"/>
              </a:rPr>
              <a:t>process?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Let's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discuss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how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30" dirty="0">
                <a:solidFill>
                  <a:srgbClr val="E2E6E9"/>
                </a:solidFill>
                <a:latin typeface="Tahoma"/>
                <a:cs typeface="Tahoma"/>
              </a:rPr>
              <a:t>ReturnGuard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20" dirty="0">
                <a:solidFill>
                  <a:srgbClr val="E2E6E9"/>
                </a:solidFill>
                <a:latin typeface="Tahoma"/>
                <a:cs typeface="Tahoma"/>
              </a:rPr>
              <a:t>AI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can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deliver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measurable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value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5" dirty="0">
                <a:solidFill>
                  <a:srgbClr val="E2E6E9"/>
                </a:solidFill>
                <a:latin typeface="Tahoma"/>
                <a:cs typeface="Tahoma"/>
              </a:rPr>
              <a:t>for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E2E6E9"/>
                </a:solidFill>
                <a:latin typeface="Tahoma"/>
                <a:cs typeface="Tahoma"/>
              </a:rPr>
              <a:t>your</a:t>
            </a:r>
            <a:r>
              <a:rPr sz="1450" spc="-125" dirty="0">
                <a:solidFill>
                  <a:srgbClr val="E2E6E9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E2E6E9"/>
                </a:solidFill>
                <a:latin typeface="Tahoma"/>
                <a:cs typeface="Tahoma"/>
              </a:rPr>
              <a:t>business.</a:t>
            </a:r>
            <a:endParaRPr sz="1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1048</Words>
  <Application>Microsoft Office PowerPoint</Application>
  <PresentationFormat>Custom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Tahoma</vt:lpstr>
      <vt:lpstr>Times New Roman</vt:lpstr>
      <vt:lpstr>Office Theme</vt:lpstr>
      <vt:lpstr>ReturnGuard AI</vt:lpstr>
      <vt:lpstr>The Challenge: Manual Returns Cost Money and Time</vt:lpstr>
      <vt:lpstr>ReturnGuard AI: Intelligent Automation That Scales</vt:lpstr>
      <vt:lpstr>The 5-Step Intelligent Workflow</vt:lpstr>
      <vt:lpstr>Three Intelligent Decision Paths</vt:lpstr>
      <vt:lpstr>Live Demo: Three Real Test Cases</vt:lpstr>
      <vt:lpstr>Built with Opus: Enterprise-Grade Workflow</vt:lpstr>
      <vt:lpstr>Measurable Business Value</vt:lpstr>
      <vt:lpstr>Production-Ready Architecture</vt:lpstr>
      <vt:lpstr>ReturnGuard 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SARUKESH P</cp:lastModifiedBy>
  <cp:revision>1</cp:revision>
  <dcterms:created xsi:type="dcterms:W3CDTF">2026-09-18T09:51:38Z</dcterms:created>
  <dcterms:modified xsi:type="dcterms:W3CDTF">2026-09-18T09:52:25Z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2025-11-18T00:00:00Z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2026-09-18T00:00:00Z</vt:filetime>
  </property>
  <property fmtid="{D5CDD505-2E9C-101B-9397-08002B2CF9AE}" pid="6" name="Producer">
    <vt:lpwstr>GPL Ghostscript 9.56.1</vt:lpwstr>
  </property>
</Properties>
</file>